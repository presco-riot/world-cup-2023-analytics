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4" r:id="rId1"/>
  </p:sldMasterIdLst>
  <p:sldIdLst>
    <p:sldId id="256" r:id="rId2"/>
    <p:sldId id="257" r:id="rId3"/>
    <p:sldId id="258" r:id="rId4"/>
    <p:sldId id="260" r:id="rId5"/>
    <p:sldId id="261" r:id="rId6"/>
    <p:sldId id="262" r:id="rId7"/>
    <p:sldId id="263" r:id="rId8"/>
    <p:sldId id="264" r:id="rId9"/>
    <p:sldId id="265" r:id="rId10"/>
    <p:sldId id="266" r:id="rId11"/>
    <p:sldId id="267" r:id="rId12"/>
    <p:sldId id="268" r:id="rId13"/>
    <p:sldId id="269" r:id="rId14"/>
    <p:sldId id="270"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B5350942-5EBE-4B2E-91AC-BAEA3C0B15A9}">
          <p14:sldIdLst>
            <p14:sldId id="256"/>
            <p14:sldId id="257"/>
            <p14:sldId id="258"/>
            <p14:sldId id="260"/>
            <p14:sldId id="261"/>
            <p14:sldId id="262"/>
            <p14:sldId id="263"/>
            <p14:sldId id="264"/>
            <p14:sldId id="265"/>
            <p14:sldId id="266"/>
            <p14:sldId id="267"/>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7EDE8E4-1002-44D7-9301-20E915B98F1A}" type="datetimeFigureOut">
              <a:rPr lang="en-CM" smtClean="0"/>
              <a:t>04/10/2025</a:t>
            </a:fld>
            <a:endParaRPr lang="en-CM"/>
          </a:p>
        </p:txBody>
      </p:sp>
      <p:sp>
        <p:nvSpPr>
          <p:cNvPr id="5" name="Footer Placeholder 4"/>
          <p:cNvSpPr>
            <a:spLocks noGrp="1"/>
          </p:cNvSpPr>
          <p:nvPr>
            <p:ph type="ftr" sz="quarter" idx="11"/>
          </p:nvPr>
        </p:nvSpPr>
        <p:spPr/>
        <p:txBody>
          <a:bodyPr/>
          <a:lstStyle/>
          <a:p>
            <a:endParaRPr lang="en-CM"/>
          </a:p>
        </p:txBody>
      </p:sp>
      <p:sp>
        <p:nvSpPr>
          <p:cNvPr id="6" name="Slide Number Placeholder 5"/>
          <p:cNvSpPr>
            <a:spLocks noGrp="1"/>
          </p:cNvSpPr>
          <p:nvPr>
            <p:ph type="sldNum" sz="quarter" idx="12"/>
          </p:nvPr>
        </p:nvSpPr>
        <p:spPr/>
        <p:txBody>
          <a:bodyPr/>
          <a:lstStyle/>
          <a:p>
            <a:fld id="{B727A99F-AF83-47CA-AC93-705F0184C2D8}" type="slidenum">
              <a:rPr lang="en-CM" smtClean="0"/>
              <a:t>‹#›</a:t>
            </a:fld>
            <a:endParaRPr lang="en-CM"/>
          </a:p>
        </p:txBody>
      </p:sp>
    </p:spTree>
    <p:extLst>
      <p:ext uri="{BB962C8B-B14F-4D97-AF65-F5344CB8AC3E}">
        <p14:creationId xmlns:p14="http://schemas.microsoft.com/office/powerpoint/2010/main" val="13201430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7EDE8E4-1002-44D7-9301-20E915B98F1A}" type="datetimeFigureOut">
              <a:rPr lang="en-CM" smtClean="0"/>
              <a:t>04/10/2025</a:t>
            </a:fld>
            <a:endParaRPr lang="en-CM"/>
          </a:p>
        </p:txBody>
      </p:sp>
      <p:sp>
        <p:nvSpPr>
          <p:cNvPr id="5" name="Footer Placeholder 4"/>
          <p:cNvSpPr>
            <a:spLocks noGrp="1"/>
          </p:cNvSpPr>
          <p:nvPr>
            <p:ph type="ftr" sz="quarter" idx="11"/>
          </p:nvPr>
        </p:nvSpPr>
        <p:spPr/>
        <p:txBody>
          <a:bodyPr/>
          <a:lstStyle/>
          <a:p>
            <a:endParaRPr lang="en-CM"/>
          </a:p>
        </p:txBody>
      </p:sp>
      <p:sp>
        <p:nvSpPr>
          <p:cNvPr id="6" name="Slide Number Placeholder 5"/>
          <p:cNvSpPr>
            <a:spLocks noGrp="1"/>
          </p:cNvSpPr>
          <p:nvPr>
            <p:ph type="sldNum" sz="quarter" idx="12"/>
          </p:nvPr>
        </p:nvSpPr>
        <p:spPr/>
        <p:txBody>
          <a:bodyPr/>
          <a:lstStyle/>
          <a:p>
            <a:fld id="{B727A99F-AF83-47CA-AC93-705F0184C2D8}" type="slidenum">
              <a:rPr lang="en-CM" smtClean="0"/>
              <a:t>‹#›</a:t>
            </a:fld>
            <a:endParaRPr lang="en-CM"/>
          </a:p>
        </p:txBody>
      </p:sp>
    </p:spTree>
    <p:extLst>
      <p:ext uri="{BB962C8B-B14F-4D97-AF65-F5344CB8AC3E}">
        <p14:creationId xmlns:p14="http://schemas.microsoft.com/office/powerpoint/2010/main" val="39892727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7EDE8E4-1002-44D7-9301-20E915B98F1A}" type="datetimeFigureOut">
              <a:rPr lang="en-CM" smtClean="0"/>
              <a:t>04/10/2025</a:t>
            </a:fld>
            <a:endParaRPr lang="en-CM"/>
          </a:p>
        </p:txBody>
      </p:sp>
      <p:sp>
        <p:nvSpPr>
          <p:cNvPr id="5" name="Footer Placeholder 4"/>
          <p:cNvSpPr>
            <a:spLocks noGrp="1"/>
          </p:cNvSpPr>
          <p:nvPr>
            <p:ph type="ftr" sz="quarter" idx="11"/>
          </p:nvPr>
        </p:nvSpPr>
        <p:spPr/>
        <p:txBody>
          <a:bodyPr/>
          <a:lstStyle/>
          <a:p>
            <a:endParaRPr lang="en-CM"/>
          </a:p>
        </p:txBody>
      </p:sp>
      <p:sp>
        <p:nvSpPr>
          <p:cNvPr id="6" name="Slide Number Placeholder 5"/>
          <p:cNvSpPr>
            <a:spLocks noGrp="1"/>
          </p:cNvSpPr>
          <p:nvPr>
            <p:ph type="sldNum" sz="quarter" idx="12"/>
          </p:nvPr>
        </p:nvSpPr>
        <p:spPr/>
        <p:txBody>
          <a:bodyPr/>
          <a:lstStyle/>
          <a:p>
            <a:fld id="{B727A99F-AF83-47CA-AC93-705F0184C2D8}" type="slidenum">
              <a:rPr lang="en-CM" smtClean="0"/>
              <a:t>‹#›</a:t>
            </a:fld>
            <a:endParaRPr lang="en-CM"/>
          </a:p>
        </p:txBody>
      </p:sp>
    </p:spTree>
    <p:extLst>
      <p:ext uri="{BB962C8B-B14F-4D97-AF65-F5344CB8AC3E}">
        <p14:creationId xmlns:p14="http://schemas.microsoft.com/office/powerpoint/2010/main" val="21683179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D7EDE8E4-1002-44D7-9301-20E915B98F1A}" type="datetimeFigureOut">
              <a:rPr lang="en-CM" smtClean="0"/>
              <a:t>04/10/2025</a:t>
            </a:fld>
            <a:endParaRPr lang="en-CM"/>
          </a:p>
        </p:txBody>
      </p:sp>
      <p:sp>
        <p:nvSpPr>
          <p:cNvPr id="9" name="Footer Placeholder 8"/>
          <p:cNvSpPr>
            <a:spLocks noGrp="1"/>
          </p:cNvSpPr>
          <p:nvPr>
            <p:ph type="ftr" sz="quarter" idx="11"/>
          </p:nvPr>
        </p:nvSpPr>
        <p:spPr/>
        <p:txBody>
          <a:bodyPr/>
          <a:lstStyle/>
          <a:p>
            <a:endParaRPr lang="en-CM"/>
          </a:p>
        </p:txBody>
      </p:sp>
      <p:sp>
        <p:nvSpPr>
          <p:cNvPr id="10" name="Slide Number Placeholder 9"/>
          <p:cNvSpPr>
            <a:spLocks noGrp="1"/>
          </p:cNvSpPr>
          <p:nvPr>
            <p:ph type="sldNum" sz="quarter" idx="12"/>
          </p:nvPr>
        </p:nvSpPr>
        <p:spPr/>
        <p:txBody>
          <a:bodyPr/>
          <a:lstStyle/>
          <a:p>
            <a:fld id="{B727A99F-AF83-47CA-AC93-705F0184C2D8}" type="slidenum">
              <a:rPr lang="en-CM" smtClean="0"/>
              <a:t>‹#›</a:t>
            </a:fld>
            <a:endParaRPr lang="en-CM"/>
          </a:p>
        </p:txBody>
      </p:sp>
    </p:spTree>
    <p:extLst>
      <p:ext uri="{BB962C8B-B14F-4D97-AF65-F5344CB8AC3E}">
        <p14:creationId xmlns:p14="http://schemas.microsoft.com/office/powerpoint/2010/main" val="5714365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p:cNvSpPr>
            <a:spLocks noGrp="1"/>
          </p:cNvSpPr>
          <p:nvPr>
            <p:ph type="dt" sz="half" idx="10"/>
          </p:nvPr>
        </p:nvSpPr>
        <p:spPr/>
        <p:txBody>
          <a:bodyPr/>
          <a:lstStyle/>
          <a:p>
            <a:fld id="{D7EDE8E4-1002-44D7-9301-20E915B98F1A}" type="datetimeFigureOut">
              <a:rPr lang="en-CM" smtClean="0"/>
              <a:t>04/10/2025</a:t>
            </a:fld>
            <a:endParaRPr lang="en-CM"/>
          </a:p>
        </p:txBody>
      </p:sp>
      <p:sp>
        <p:nvSpPr>
          <p:cNvPr id="11" name="Footer Placeholder 10"/>
          <p:cNvSpPr>
            <a:spLocks noGrp="1"/>
          </p:cNvSpPr>
          <p:nvPr>
            <p:ph type="ftr" sz="quarter" idx="11"/>
          </p:nvPr>
        </p:nvSpPr>
        <p:spPr/>
        <p:txBody>
          <a:bodyPr/>
          <a:lstStyle/>
          <a:p>
            <a:endParaRPr lang="en-CM"/>
          </a:p>
        </p:txBody>
      </p:sp>
      <p:sp>
        <p:nvSpPr>
          <p:cNvPr id="12" name="Slide Number Placeholder 11"/>
          <p:cNvSpPr>
            <a:spLocks noGrp="1"/>
          </p:cNvSpPr>
          <p:nvPr>
            <p:ph type="sldNum" sz="quarter" idx="12"/>
          </p:nvPr>
        </p:nvSpPr>
        <p:spPr/>
        <p:txBody>
          <a:bodyPr/>
          <a:lstStyle/>
          <a:p>
            <a:fld id="{B727A99F-AF83-47CA-AC93-705F0184C2D8}" type="slidenum">
              <a:rPr lang="en-CM" smtClean="0"/>
              <a:t>‹#›</a:t>
            </a:fld>
            <a:endParaRPr lang="en-CM"/>
          </a:p>
        </p:txBody>
      </p:sp>
    </p:spTree>
    <p:extLst>
      <p:ext uri="{BB962C8B-B14F-4D97-AF65-F5344CB8AC3E}">
        <p14:creationId xmlns:p14="http://schemas.microsoft.com/office/powerpoint/2010/main" val="4966289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2" name="Date Placeholder 1"/>
          <p:cNvSpPr>
            <a:spLocks noGrp="1"/>
          </p:cNvSpPr>
          <p:nvPr>
            <p:ph type="dt" sz="half" idx="10"/>
          </p:nvPr>
        </p:nvSpPr>
        <p:spPr/>
        <p:txBody>
          <a:bodyPr/>
          <a:lstStyle/>
          <a:p>
            <a:fld id="{D7EDE8E4-1002-44D7-9301-20E915B98F1A}" type="datetimeFigureOut">
              <a:rPr lang="en-CM" smtClean="0"/>
              <a:t>04/10/2025</a:t>
            </a:fld>
            <a:endParaRPr lang="en-CM"/>
          </a:p>
        </p:txBody>
      </p:sp>
      <p:sp>
        <p:nvSpPr>
          <p:cNvPr id="7" name="Footer Placeholder 6"/>
          <p:cNvSpPr>
            <a:spLocks noGrp="1"/>
          </p:cNvSpPr>
          <p:nvPr>
            <p:ph type="ftr" sz="quarter" idx="11"/>
          </p:nvPr>
        </p:nvSpPr>
        <p:spPr/>
        <p:txBody>
          <a:bodyPr/>
          <a:lstStyle/>
          <a:p>
            <a:endParaRPr lang="en-CM"/>
          </a:p>
        </p:txBody>
      </p:sp>
      <p:sp>
        <p:nvSpPr>
          <p:cNvPr id="8" name="Slide Number Placeholder 7"/>
          <p:cNvSpPr>
            <a:spLocks noGrp="1"/>
          </p:cNvSpPr>
          <p:nvPr>
            <p:ph type="sldNum" sz="quarter" idx="12"/>
          </p:nvPr>
        </p:nvSpPr>
        <p:spPr/>
        <p:txBody>
          <a:bodyPr/>
          <a:lstStyle/>
          <a:p>
            <a:fld id="{B727A99F-AF83-47CA-AC93-705F0184C2D8}" type="slidenum">
              <a:rPr lang="en-CM" smtClean="0"/>
              <a:t>‹#›</a:t>
            </a:fld>
            <a:endParaRPr lang="en-CM"/>
          </a:p>
        </p:txBody>
      </p:sp>
    </p:spTree>
    <p:extLst>
      <p:ext uri="{BB962C8B-B14F-4D97-AF65-F5344CB8AC3E}">
        <p14:creationId xmlns:p14="http://schemas.microsoft.com/office/powerpoint/2010/main" val="33159238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D7EDE8E4-1002-44D7-9301-20E915B98F1A}" type="datetimeFigureOut">
              <a:rPr lang="en-CM" smtClean="0"/>
              <a:t>04/10/2025</a:t>
            </a:fld>
            <a:endParaRPr lang="en-CM"/>
          </a:p>
        </p:txBody>
      </p:sp>
      <p:sp>
        <p:nvSpPr>
          <p:cNvPr id="6" name="Footer Placeholder 5"/>
          <p:cNvSpPr>
            <a:spLocks noGrp="1"/>
          </p:cNvSpPr>
          <p:nvPr>
            <p:ph type="ftr" sz="quarter" idx="11"/>
          </p:nvPr>
        </p:nvSpPr>
        <p:spPr/>
        <p:txBody>
          <a:bodyPr/>
          <a:lstStyle/>
          <a:p>
            <a:endParaRPr lang="en-CM"/>
          </a:p>
        </p:txBody>
      </p:sp>
      <p:sp>
        <p:nvSpPr>
          <p:cNvPr id="7" name="Slide Number Placeholder 6"/>
          <p:cNvSpPr>
            <a:spLocks noGrp="1"/>
          </p:cNvSpPr>
          <p:nvPr>
            <p:ph type="sldNum" sz="quarter" idx="12"/>
          </p:nvPr>
        </p:nvSpPr>
        <p:spPr/>
        <p:txBody>
          <a:bodyPr/>
          <a:lstStyle/>
          <a:p>
            <a:fld id="{B727A99F-AF83-47CA-AC93-705F0184C2D8}" type="slidenum">
              <a:rPr lang="en-CM" smtClean="0"/>
              <a:t>‹#›</a:t>
            </a:fld>
            <a:endParaRPr lang="en-CM"/>
          </a:p>
        </p:txBody>
      </p:sp>
    </p:spTree>
    <p:extLst>
      <p:ext uri="{BB962C8B-B14F-4D97-AF65-F5344CB8AC3E}">
        <p14:creationId xmlns:p14="http://schemas.microsoft.com/office/powerpoint/2010/main" val="30900141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D7EDE8E4-1002-44D7-9301-20E915B98F1A}" type="datetimeFigureOut">
              <a:rPr lang="en-CM" smtClean="0"/>
              <a:t>04/10/2025</a:t>
            </a:fld>
            <a:endParaRPr lang="en-CM"/>
          </a:p>
        </p:txBody>
      </p:sp>
      <p:sp>
        <p:nvSpPr>
          <p:cNvPr id="9" name="Footer Placeholder 8"/>
          <p:cNvSpPr>
            <a:spLocks noGrp="1"/>
          </p:cNvSpPr>
          <p:nvPr>
            <p:ph type="ftr" sz="quarter" idx="11"/>
          </p:nvPr>
        </p:nvSpPr>
        <p:spPr/>
        <p:txBody>
          <a:bodyPr/>
          <a:lstStyle/>
          <a:p>
            <a:endParaRPr lang="en-CM"/>
          </a:p>
        </p:txBody>
      </p:sp>
      <p:sp>
        <p:nvSpPr>
          <p:cNvPr id="10" name="Slide Number Placeholder 9"/>
          <p:cNvSpPr>
            <a:spLocks noGrp="1"/>
          </p:cNvSpPr>
          <p:nvPr>
            <p:ph type="sldNum" sz="quarter" idx="12"/>
          </p:nvPr>
        </p:nvSpPr>
        <p:spPr/>
        <p:txBody>
          <a:bodyPr/>
          <a:lstStyle/>
          <a:p>
            <a:fld id="{B727A99F-AF83-47CA-AC93-705F0184C2D8}" type="slidenum">
              <a:rPr lang="en-CM" smtClean="0"/>
              <a:t>‹#›</a:t>
            </a:fld>
            <a:endParaRPr lang="en-CM"/>
          </a:p>
        </p:txBody>
      </p:sp>
    </p:spTree>
    <p:extLst>
      <p:ext uri="{BB962C8B-B14F-4D97-AF65-F5344CB8AC3E}">
        <p14:creationId xmlns:p14="http://schemas.microsoft.com/office/powerpoint/2010/main" val="3456945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D7EDE8E4-1002-44D7-9301-20E915B98F1A}" type="datetimeFigureOut">
              <a:rPr lang="en-CM" smtClean="0"/>
              <a:t>04/10/2025</a:t>
            </a:fld>
            <a:endParaRPr lang="en-CM"/>
          </a:p>
        </p:txBody>
      </p:sp>
      <p:sp>
        <p:nvSpPr>
          <p:cNvPr id="9" name="Footer Placeholder 8"/>
          <p:cNvSpPr>
            <a:spLocks noGrp="1"/>
          </p:cNvSpPr>
          <p:nvPr>
            <p:ph type="ftr" sz="quarter" idx="11"/>
          </p:nvPr>
        </p:nvSpPr>
        <p:spPr>
          <a:xfrm>
            <a:off x="3499101" y="6356350"/>
            <a:ext cx="5911517" cy="365125"/>
          </a:xfrm>
        </p:spPr>
        <p:txBody>
          <a:bodyPr/>
          <a:lstStyle/>
          <a:p>
            <a:endParaRPr lang="en-CM"/>
          </a:p>
        </p:txBody>
      </p:sp>
      <p:sp>
        <p:nvSpPr>
          <p:cNvPr id="10" name="Slide Number Placeholder 9"/>
          <p:cNvSpPr>
            <a:spLocks noGrp="1"/>
          </p:cNvSpPr>
          <p:nvPr>
            <p:ph type="sldNum" sz="quarter" idx="12"/>
          </p:nvPr>
        </p:nvSpPr>
        <p:spPr/>
        <p:txBody>
          <a:bodyPr/>
          <a:lstStyle/>
          <a:p>
            <a:fld id="{B727A99F-AF83-47CA-AC93-705F0184C2D8}" type="slidenum">
              <a:rPr lang="en-CM" smtClean="0"/>
              <a:t>‹#›</a:t>
            </a:fld>
            <a:endParaRPr lang="en-CM"/>
          </a:p>
        </p:txBody>
      </p:sp>
    </p:spTree>
    <p:extLst>
      <p:ext uri="{BB962C8B-B14F-4D97-AF65-F5344CB8AC3E}">
        <p14:creationId xmlns:p14="http://schemas.microsoft.com/office/powerpoint/2010/main" val="31641642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7EDE8E4-1002-44D7-9301-20E915B98F1A}" type="datetimeFigureOut">
              <a:rPr lang="en-CM" smtClean="0"/>
              <a:t>04/10/2025</a:t>
            </a:fld>
            <a:endParaRPr lang="en-CM"/>
          </a:p>
        </p:txBody>
      </p:sp>
      <p:sp>
        <p:nvSpPr>
          <p:cNvPr id="8" name="Footer Placeholder 7"/>
          <p:cNvSpPr>
            <a:spLocks noGrp="1"/>
          </p:cNvSpPr>
          <p:nvPr>
            <p:ph type="ftr" sz="quarter" idx="11"/>
          </p:nvPr>
        </p:nvSpPr>
        <p:spPr/>
        <p:txBody>
          <a:bodyPr/>
          <a:lstStyle/>
          <a:p>
            <a:endParaRPr lang="en-CM"/>
          </a:p>
        </p:txBody>
      </p:sp>
      <p:sp>
        <p:nvSpPr>
          <p:cNvPr id="9" name="Slide Number Placeholder 8"/>
          <p:cNvSpPr>
            <a:spLocks noGrp="1"/>
          </p:cNvSpPr>
          <p:nvPr>
            <p:ph type="sldNum" sz="quarter" idx="12"/>
          </p:nvPr>
        </p:nvSpPr>
        <p:spPr/>
        <p:txBody>
          <a:bodyPr/>
          <a:lstStyle/>
          <a:p>
            <a:fld id="{B727A99F-AF83-47CA-AC93-705F0184C2D8}" type="slidenum">
              <a:rPr lang="en-CM" smtClean="0"/>
              <a:t>‹#›</a:t>
            </a:fld>
            <a:endParaRPr lang="en-CM"/>
          </a:p>
        </p:txBody>
      </p:sp>
    </p:spTree>
    <p:extLst>
      <p:ext uri="{BB962C8B-B14F-4D97-AF65-F5344CB8AC3E}">
        <p14:creationId xmlns:p14="http://schemas.microsoft.com/office/powerpoint/2010/main" val="15058984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7EDE8E4-1002-44D7-9301-20E915B98F1A}" type="datetimeFigureOut">
              <a:rPr lang="en-CM" smtClean="0"/>
              <a:t>04/10/2025</a:t>
            </a:fld>
            <a:endParaRPr lang="en-CM"/>
          </a:p>
        </p:txBody>
      </p:sp>
      <p:sp>
        <p:nvSpPr>
          <p:cNvPr id="8" name="Footer Placeholder 7"/>
          <p:cNvSpPr>
            <a:spLocks noGrp="1"/>
          </p:cNvSpPr>
          <p:nvPr>
            <p:ph type="ftr" sz="quarter" idx="11"/>
          </p:nvPr>
        </p:nvSpPr>
        <p:spPr/>
        <p:txBody>
          <a:bodyPr/>
          <a:lstStyle/>
          <a:p>
            <a:endParaRPr lang="en-CM"/>
          </a:p>
        </p:txBody>
      </p:sp>
      <p:sp>
        <p:nvSpPr>
          <p:cNvPr id="9" name="Slide Number Placeholder 8"/>
          <p:cNvSpPr>
            <a:spLocks noGrp="1"/>
          </p:cNvSpPr>
          <p:nvPr>
            <p:ph type="sldNum" sz="quarter" idx="12"/>
          </p:nvPr>
        </p:nvSpPr>
        <p:spPr/>
        <p:txBody>
          <a:bodyPr/>
          <a:lstStyle/>
          <a:p>
            <a:fld id="{B727A99F-AF83-47CA-AC93-705F0184C2D8}" type="slidenum">
              <a:rPr lang="en-CM" smtClean="0"/>
              <a:t>‹#›</a:t>
            </a:fld>
            <a:endParaRPr lang="en-CM"/>
          </a:p>
        </p:txBody>
      </p:sp>
    </p:spTree>
    <p:extLst>
      <p:ext uri="{BB962C8B-B14F-4D97-AF65-F5344CB8AC3E}">
        <p14:creationId xmlns:p14="http://schemas.microsoft.com/office/powerpoint/2010/main" val="11649058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D7EDE8E4-1002-44D7-9301-20E915B98F1A}" type="datetimeFigureOut">
              <a:rPr lang="en-CM" smtClean="0"/>
              <a:t>04/10/2025</a:t>
            </a:fld>
            <a:endParaRPr lang="en-CM"/>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CM"/>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B727A99F-AF83-47CA-AC93-705F0184C2D8}" type="slidenum">
              <a:rPr lang="en-CM" smtClean="0"/>
              <a:t>‹#›</a:t>
            </a:fld>
            <a:endParaRPr lang="en-CM"/>
          </a:p>
        </p:txBody>
      </p:sp>
    </p:spTree>
    <p:extLst>
      <p:ext uri="{BB962C8B-B14F-4D97-AF65-F5344CB8AC3E}">
        <p14:creationId xmlns:p14="http://schemas.microsoft.com/office/powerpoint/2010/main" val="3453234172"/>
      </p:ext>
    </p:extLst>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jpg"/><Relationship Id="rId4" Type="http://schemas.openxmlformats.org/officeDocument/2006/relationships/image" Target="../media/image5.jpg"/></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7.xml"/><Relationship Id="rId6" Type="http://schemas.openxmlformats.org/officeDocument/2006/relationships/image" Target="../media/image13.jpg"/><Relationship Id="rId5" Type="http://schemas.openxmlformats.org/officeDocument/2006/relationships/image" Target="../media/image12.jpg"/><Relationship Id="rId4" Type="http://schemas.openxmlformats.org/officeDocument/2006/relationships/image" Target="../media/image11.jpg"/></Relationships>
</file>

<file path=ppt/slides/_rels/slide8.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7.xml"/><Relationship Id="rId4" Type="http://schemas.openxmlformats.org/officeDocument/2006/relationships/image" Target="../media/image1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1.jpg"/><Relationship Id="rId7" Type="http://schemas.openxmlformats.org/officeDocument/2006/relationships/image" Target="../media/image25.jpg"/><Relationship Id="rId2" Type="http://schemas.openxmlformats.org/officeDocument/2006/relationships/image" Target="../media/image20.jpg"/><Relationship Id="rId1" Type="http://schemas.openxmlformats.org/officeDocument/2006/relationships/slideLayout" Target="../slideLayouts/slideLayout7.xml"/><Relationship Id="rId6" Type="http://schemas.openxmlformats.org/officeDocument/2006/relationships/image" Target="../media/image24.jpg"/><Relationship Id="rId5" Type="http://schemas.openxmlformats.org/officeDocument/2006/relationships/image" Target="../media/image23.jpg"/><Relationship Id="rId4" Type="http://schemas.openxmlformats.org/officeDocument/2006/relationships/image" Target="../media/image2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8E249-DE2B-4D89-AC8B-4D649BCA8FB0}"/>
              </a:ext>
            </a:extLst>
          </p:cNvPr>
          <p:cNvSpPr>
            <a:spLocks noGrp="1"/>
          </p:cNvSpPr>
          <p:nvPr>
            <p:ph type="ctrTitle"/>
          </p:nvPr>
        </p:nvSpPr>
        <p:spPr>
          <a:xfrm>
            <a:off x="697585" y="1951350"/>
            <a:ext cx="5835190" cy="3733014"/>
          </a:xfrm>
        </p:spPr>
        <p:txBody>
          <a:bodyPr anchor="ctr">
            <a:normAutofit/>
          </a:bodyPr>
          <a:lstStyle/>
          <a:p>
            <a:r>
              <a:rPr lang="en-US" sz="7200" dirty="0">
                <a:latin typeface="Forte" panose="03060902040502070203" pitchFamily="66" charset="0"/>
              </a:rPr>
              <a:t>WORLD CUP </a:t>
            </a:r>
            <a:r>
              <a:rPr lang="en-US" dirty="0">
                <a:latin typeface="Forte" panose="03060902040502070203" pitchFamily="66" charset="0"/>
              </a:rPr>
              <a:t>2023</a:t>
            </a:r>
            <a:br>
              <a:rPr lang="en-US" sz="7200" dirty="0">
                <a:latin typeface="Forte" panose="03060902040502070203" pitchFamily="66" charset="0"/>
              </a:rPr>
            </a:br>
            <a:r>
              <a:rPr lang="en-US" sz="5400" dirty="0">
                <a:latin typeface="Forte" panose="03060902040502070203" pitchFamily="66" charset="0"/>
              </a:rPr>
              <a:t>ANALYSIS</a:t>
            </a:r>
            <a:br>
              <a:rPr lang="en-US" dirty="0">
                <a:latin typeface="Forte" panose="03060902040502070203" pitchFamily="66" charset="0"/>
              </a:rPr>
            </a:br>
            <a:endParaRPr lang="en-CM" dirty="0">
              <a:latin typeface="Forte" panose="03060902040502070203" pitchFamily="66" charset="0"/>
            </a:endParaRPr>
          </a:p>
        </p:txBody>
      </p:sp>
      <p:pic>
        <p:nvPicPr>
          <p:cNvPr id="5" name="Picture 4">
            <a:extLst>
              <a:ext uri="{FF2B5EF4-FFF2-40B4-BE49-F238E27FC236}">
                <a16:creationId xmlns:a16="http://schemas.microsoft.com/office/drawing/2014/main" id="{4A10ACE0-D370-4E11-925C-F767DD4B2C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15151" y="1575012"/>
            <a:ext cx="3855612" cy="3855612"/>
          </a:xfrm>
          <a:prstGeom prst="rect">
            <a:avLst/>
          </a:prstGeom>
        </p:spPr>
      </p:pic>
      <p:sp>
        <p:nvSpPr>
          <p:cNvPr id="8" name="TextBox 7">
            <a:extLst>
              <a:ext uri="{FF2B5EF4-FFF2-40B4-BE49-F238E27FC236}">
                <a16:creationId xmlns:a16="http://schemas.microsoft.com/office/drawing/2014/main" id="{993F476D-33A8-4E9E-9E05-D852F0C890FB}"/>
              </a:ext>
            </a:extLst>
          </p:cNvPr>
          <p:cNvSpPr txBox="1"/>
          <p:nvPr/>
        </p:nvSpPr>
        <p:spPr>
          <a:xfrm>
            <a:off x="1112362" y="386499"/>
            <a:ext cx="3403075" cy="369332"/>
          </a:xfrm>
          <a:prstGeom prst="rect">
            <a:avLst/>
          </a:prstGeom>
          <a:noFill/>
        </p:spPr>
        <p:txBody>
          <a:bodyPr wrap="square" rtlCol="0">
            <a:spAutoFit/>
          </a:bodyPr>
          <a:lstStyle/>
          <a:p>
            <a:r>
              <a:rPr lang="en-US" dirty="0" err="1">
                <a:latin typeface="Calisto MT" panose="02040603050505030304" pitchFamily="18" charset="0"/>
              </a:rPr>
              <a:t>Mentorness</a:t>
            </a:r>
            <a:r>
              <a:rPr lang="en-US" dirty="0">
                <a:latin typeface="Calisto MT" panose="02040603050505030304" pitchFamily="18" charset="0"/>
              </a:rPr>
              <a:t> Internship Program</a:t>
            </a:r>
            <a:endParaRPr lang="en-CM" dirty="0">
              <a:latin typeface="Calisto MT" panose="02040603050505030304" pitchFamily="18" charset="0"/>
            </a:endParaRPr>
          </a:p>
        </p:txBody>
      </p:sp>
      <p:sp>
        <p:nvSpPr>
          <p:cNvPr id="9" name="TextBox 8">
            <a:extLst>
              <a:ext uri="{FF2B5EF4-FFF2-40B4-BE49-F238E27FC236}">
                <a16:creationId xmlns:a16="http://schemas.microsoft.com/office/drawing/2014/main" id="{3A57FF5D-6410-4A32-A469-C26D5CF8DEEF}"/>
              </a:ext>
            </a:extLst>
          </p:cNvPr>
          <p:cNvSpPr txBox="1"/>
          <p:nvPr/>
        </p:nvSpPr>
        <p:spPr>
          <a:xfrm>
            <a:off x="7748833" y="5775484"/>
            <a:ext cx="3421930" cy="1151534"/>
          </a:xfrm>
          <a:prstGeom prst="rect">
            <a:avLst/>
          </a:prstGeom>
          <a:noFill/>
        </p:spPr>
        <p:txBody>
          <a:bodyPr wrap="square" rtlCol="0">
            <a:spAutoFit/>
          </a:bodyPr>
          <a:lstStyle/>
          <a:p>
            <a:r>
              <a:rPr lang="en-US" dirty="0">
                <a:latin typeface="Calisto MT" panose="02040603050505030304" pitchFamily="18" charset="0"/>
              </a:rPr>
              <a:t>Asibecheh Precious Omechamba</a:t>
            </a:r>
          </a:p>
          <a:p>
            <a:pPr>
              <a:lnSpc>
                <a:spcPct val="150000"/>
              </a:lnSpc>
            </a:pPr>
            <a:r>
              <a:rPr lang="en-US" sz="1800" i="0" dirty="0">
                <a:solidFill>
                  <a:srgbClr val="000000"/>
                </a:solidFill>
                <a:effectLst/>
                <a:latin typeface="Calisto MT" panose="02040603050505030304" pitchFamily="18" charset="0"/>
              </a:rPr>
              <a:t>MIP-ML-02</a:t>
            </a:r>
            <a:r>
              <a:rPr lang="en-US" dirty="0">
                <a:latin typeface="Calisto MT" panose="02040603050505030304" pitchFamily="18" charset="0"/>
              </a:rPr>
              <a:t> </a:t>
            </a:r>
            <a:br>
              <a:rPr lang="en-US" dirty="0"/>
            </a:br>
            <a:endParaRPr lang="en-CM" dirty="0">
              <a:latin typeface="Calisto MT" panose="02040603050505030304" pitchFamily="18" charset="0"/>
            </a:endParaRPr>
          </a:p>
        </p:txBody>
      </p:sp>
    </p:spTree>
    <p:extLst>
      <p:ext uri="{BB962C8B-B14F-4D97-AF65-F5344CB8AC3E}">
        <p14:creationId xmlns:p14="http://schemas.microsoft.com/office/powerpoint/2010/main" val="31304554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6ABBC-9EAF-46B3-A217-F01046BBF1C1}"/>
              </a:ext>
            </a:extLst>
          </p:cNvPr>
          <p:cNvSpPr>
            <a:spLocks noGrp="1"/>
          </p:cNvSpPr>
          <p:nvPr>
            <p:ph type="title"/>
          </p:nvPr>
        </p:nvSpPr>
        <p:spPr/>
        <p:txBody>
          <a:bodyPr/>
          <a:lstStyle/>
          <a:p>
            <a:pPr algn="ctr"/>
            <a:r>
              <a:rPr lang="en-US" dirty="0">
                <a:latin typeface="Forte" panose="03060902040502070203" pitchFamily="66" charset="0"/>
              </a:rPr>
              <a:t>Project Objectives</a:t>
            </a:r>
            <a:endParaRPr lang="en-CM" dirty="0">
              <a:latin typeface="Forte" panose="03060902040502070203" pitchFamily="66" charset="0"/>
            </a:endParaRPr>
          </a:p>
        </p:txBody>
      </p:sp>
      <p:sp>
        <p:nvSpPr>
          <p:cNvPr id="3" name="Content Placeholder 2">
            <a:extLst>
              <a:ext uri="{FF2B5EF4-FFF2-40B4-BE49-F238E27FC236}">
                <a16:creationId xmlns:a16="http://schemas.microsoft.com/office/drawing/2014/main" id="{BC82B251-68BF-47A7-85CE-0772D3F2034F}"/>
              </a:ext>
            </a:extLst>
          </p:cNvPr>
          <p:cNvSpPr>
            <a:spLocks noGrp="1"/>
          </p:cNvSpPr>
          <p:nvPr>
            <p:ph idx="1"/>
          </p:nvPr>
        </p:nvSpPr>
        <p:spPr/>
        <p:txBody>
          <a:bodyPr/>
          <a:lstStyle/>
          <a:p>
            <a:pPr marL="0" indent="0" algn="ctr">
              <a:buNone/>
            </a:pPr>
            <a:r>
              <a:rPr lang="en-US" dirty="0">
                <a:solidFill>
                  <a:schemeClr val="tx1"/>
                </a:solidFill>
                <a:latin typeface="Calisto MT" panose="02040603050505030304" pitchFamily="18" charset="0"/>
              </a:rPr>
              <a:t>The goal of this project is to perform an Exploratory Data Analysis (EDA) on the World Cup 2023 dataset by uncovering patterns, trends and a notable statistics that provide a delicate understanding of the team and player’s performance.</a:t>
            </a:r>
            <a:endParaRPr lang="en-CM" dirty="0">
              <a:solidFill>
                <a:schemeClr val="tx1"/>
              </a:solidFill>
              <a:latin typeface="Calisto MT" panose="02040603050505030304" pitchFamily="18" charset="0"/>
            </a:endParaRPr>
          </a:p>
        </p:txBody>
      </p:sp>
    </p:spTree>
    <p:extLst>
      <p:ext uri="{BB962C8B-B14F-4D97-AF65-F5344CB8AC3E}">
        <p14:creationId xmlns:p14="http://schemas.microsoft.com/office/powerpoint/2010/main" val="41973288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2C9B30F-FF34-408E-A949-C70A1F807727}"/>
              </a:ext>
            </a:extLst>
          </p:cNvPr>
          <p:cNvPicPr>
            <a:picLocks noGrp="1" noChangeAspect="1"/>
          </p:cNvPicPr>
          <p:nvPr>
            <p:ph idx="1"/>
          </p:nvPr>
        </p:nvPicPr>
        <p:blipFill>
          <a:blip r:embed="rId2">
            <a:alphaModFix amt="20000"/>
            <a:extLst>
              <a:ext uri="{28A0092B-C50C-407E-A947-70E740481C1C}">
                <a14:useLocalDpi xmlns:a14="http://schemas.microsoft.com/office/drawing/2010/main" val="0"/>
              </a:ext>
            </a:extLst>
          </a:blip>
          <a:stretch>
            <a:fillRect/>
          </a:stretch>
        </p:blipFill>
        <p:spPr>
          <a:xfrm>
            <a:off x="6002338" y="2566987"/>
            <a:ext cx="3048000" cy="1714500"/>
          </a:xfrm>
        </p:spPr>
      </p:pic>
      <p:sp>
        <p:nvSpPr>
          <p:cNvPr id="2" name="Title 1">
            <a:extLst>
              <a:ext uri="{FF2B5EF4-FFF2-40B4-BE49-F238E27FC236}">
                <a16:creationId xmlns:a16="http://schemas.microsoft.com/office/drawing/2014/main" id="{C602632C-CFFC-407E-9DB2-A8BBABF40BA4}"/>
              </a:ext>
            </a:extLst>
          </p:cNvPr>
          <p:cNvSpPr>
            <a:spLocks noGrp="1"/>
          </p:cNvSpPr>
          <p:nvPr>
            <p:ph type="title"/>
          </p:nvPr>
        </p:nvSpPr>
        <p:spPr/>
        <p:txBody>
          <a:bodyPr/>
          <a:lstStyle/>
          <a:p>
            <a:pPr algn="ctr"/>
            <a:r>
              <a:rPr lang="en-US" dirty="0">
                <a:latin typeface="Forte" panose="03060902040502070203" pitchFamily="66" charset="0"/>
              </a:rPr>
              <a:t>Dataset Description</a:t>
            </a:r>
            <a:endParaRPr lang="en-CM" dirty="0">
              <a:latin typeface="Forte" panose="03060902040502070203" pitchFamily="66" charset="0"/>
            </a:endParaRPr>
          </a:p>
        </p:txBody>
      </p:sp>
      <p:sp>
        <p:nvSpPr>
          <p:cNvPr id="8" name="TextBox 7">
            <a:extLst>
              <a:ext uri="{FF2B5EF4-FFF2-40B4-BE49-F238E27FC236}">
                <a16:creationId xmlns:a16="http://schemas.microsoft.com/office/drawing/2014/main" id="{FE144AAF-DAE6-44F3-98ED-0CD9E8F36DAF}"/>
              </a:ext>
            </a:extLst>
          </p:cNvPr>
          <p:cNvSpPr txBox="1"/>
          <p:nvPr/>
        </p:nvSpPr>
        <p:spPr>
          <a:xfrm>
            <a:off x="3960493" y="572268"/>
            <a:ext cx="7978588" cy="5909310"/>
          </a:xfrm>
          <a:prstGeom prst="rect">
            <a:avLst/>
          </a:prstGeom>
          <a:noFill/>
        </p:spPr>
        <p:txBody>
          <a:bodyPr wrap="square" rtlCol="0">
            <a:spAutoFit/>
          </a:bodyPr>
          <a:lstStyle/>
          <a:p>
            <a:pPr marL="342900" indent="-342900">
              <a:buAutoNum type="arabicPeriod"/>
            </a:pPr>
            <a:r>
              <a:rPr lang="en-US" b="1" dirty="0">
                <a:latin typeface="Calisto MT" panose="02040603050505030304" pitchFamily="18" charset="0"/>
              </a:rPr>
              <a:t>team: </a:t>
            </a:r>
            <a:r>
              <a:rPr lang="en-US" dirty="0">
                <a:latin typeface="Calisto MT" panose="02040603050505030304" pitchFamily="18" charset="0"/>
              </a:rPr>
              <a:t>Teams that participated in the tournament.</a:t>
            </a:r>
          </a:p>
          <a:p>
            <a:pPr marL="342900" indent="-342900">
              <a:buAutoNum type="arabicPeriod"/>
            </a:pPr>
            <a:r>
              <a:rPr lang="en-US" b="1" dirty="0">
                <a:latin typeface="Calisto MT" panose="02040603050505030304" pitchFamily="18" charset="0"/>
              </a:rPr>
              <a:t>Player: </a:t>
            </a:r>
            <a:r>
              <a:rPr lang="en-US" dirty="0">
                <a:latin typeface="Calisto MT" panose="02040603050505030304" pitchFamily="18" charset="0"/>
              </a:rPr>
              <a:t>Name of the players that participated in the tournament.</a:t>
            </a:r>
          </a:p>
          <a:p>
            <a:pPr marL="342900" indent="-342900">
              <a:buAutoNum type="arabicPeriod"/>
            </a:pPr>
            <a:r>
              <a:rPr lang="en-US" b="1" dirty="0" err="1">
                <a:latin typeface="Calisto MT" panose="02040603050505030304" pitchFamily="18" charset="0"/>
              </a:rPr>
              <a:t>bat_or_bowl</a:t>
            </a:r>
            <a:r>
              <a:rPr lang="en-US" b="1" dirty="0">
                <a:latin typeface="Calisto MT" panose="02040603050505030304" pitchFamily="18" charset="0"/>
              </a:rPr>
              <a:t>: </a:t>
            </a:r>
            <a:r>
              <a:rPr lang="en-US" dirty="0">
                <a:latin typeface="Calisto MT" panose="02040603050505030304" pitchFamily="18" charset="0"/>
              </a:rPr>
              <a:t>Role of the player.</a:t>
            </a:r>
          </a:p>
          <a:p>
            <a:pPr marL="342900" indent="-342900">
              <a:buAutoNum type="arabicPeriod"/>
            </a:pPr>
            <a:r>
              <a:rPr lang="en-US" b="1" dirty="0" err="1">
                <a:latin typeface="Calisto MT" panose="02040603050505030304" pitchFamily="18" charset="0"/>
              </a:rPr>
              <a:t>bb_bf</a:t>
            </a:r>
            <a:r>
              <a:rPr lang="en-US" b="1" dirty="0">
                <a:latin typeface="Calisto MT" panose="02040603050505030304" pitchFamily="18" charset="0"/>
              </a:rPr>
              <a:t>: </a:t>
            </a:r>
            <a:r>
              <a:rPr lang="en-US" dirty="0">
                <a:latin typeface="Calisto MT" panose="02040603050505030304" pitchFamily="18" charset="0"/>
              </a:rPr>
              <a:t>Balls bowled by the bowler or balls faced by the batsman.</a:t>
            </a:r>
          </a:p>
          <a:p>
            <a:pPr marL="342900" indent="-342900">
              <a:buAutoNum type="arabicPeriod"/>
            </a:pPr>
            <a:r>
              <a:rPr lang="en-US" b="1" dirty="0">
                <a:latin typeface="Calisto MT" panose="02040603050505030304" pitchFamily="18" charset="0"/>
              </a:rPr>
              <a:t>runs: </a:t>
            </a:r>
            <a:r>
              <a:rPr lang="en-US" dirty="0">
                <a:latin typeface="Calisto MT" panose="02040603050505030304" pitchFamily="18" charset="0"/>
              </a:rPr>
              <a:t>Runs scored by player in a match.</a:t>
            </a:r>
          </a:p>
          <a:p>
            <a:pPr marL="342900" indent="-342900">
              <a:buAutoNum type="arabicPeriod"/>
            </a:pPr>
            <a:r>
              <a:rPr lang="en-US" b="1" dirty="0" err="1">
                <a:latin typeface="Calisto MT" panose="02040603050505030304" pitchFamily="18" charset="0"/>
              </a:rPr>
              <a:t>wkts</a:t>
            </a:r>
            <a:r>
              <a:rPr lang="en-US" b="1" dirty="0">
                <a:latin typeface="Calisto MT" panose="02040603050505030304" pitchFamily="18" charset="0"/>
              </a:rPr>
              <a:t>: </a:t>
            </a:r>
            <a:r>
              <a:rPr lang="en-US" dirty="0">
                <a:latin typeface="Calisto MT" panose="02040603050505030304" pitchFamily="18" charset="0"/>
              </a:rPr>
              <a:t>Wickets taken by the bowler.</a:t>
            </a:r>
          </a:p>
          <a:p>
            <a:pPr marL="342900" indent="-342900">
              <a:buAutoNum type="arabicPeriod"/>
            </a:pPr>
            <a:r>
              <a:rPr lang="en-US" b="1" dirty="0" err="1">
                <a:latin typeface="Calisto MT" panose="02040603050505030304" pitchFamily="18" charset="0"/>
              </a:rPr>
              <a:t>wicketball_prob</a:t>
            </a:r>
            <a:r>
              <a:rPr lang="en-US" b="1" dirty="0">
                <a:latin typeface="Calisto MT" panose="02040603050505030304" pitchFamily="18" charset="0"/>
              </a:rPr>
              <a:t>: </a:t>
            </a:r>
            <a:r>
              <a:rPr lang="en-US" dirty="0">
                <a:latin typeface="Calisto MT" panose="02040603050505030304" pitchFamily="18" charset="0"/>
              </a:rPr>
              <a:t>Wickets taken per </a:t>
            </a:r>
            <a:r>
              <a:rPr lang="en-US" dirty="0" err="1">
                <a:latin typeface="Calisto MT" panose="02040603050505030304" pitchFamily="18" charset="0"/>
              </a:rPr>
              <a:t>bb_bf</a:t>
            </a:r>
            <a:r>
              <a:rPr lang="en-US" dirty="0">
                <a:latin typeface="Calisto MT" panose="02040603050505030304" pitchFamily="18" charset="0"/>
              </a:rPr>
              <a:t>.</a:t>
            </a:r>
          </a:p>
          <a:p>
            <a:pPr marL="342900" indent="-342900">
              <a:buAutoNum type="arabicPeriod"/>
            </a:pPr>
            <a:r>
              <a:rPr lang="en-US" b="1" dirty="0" err="1">
                <a:latin typeface="Calisto MT" panose="02040603050505030304" pitchFamily="18" charset="0"/>
              </a:rPr>
              <a:t>runs_per_ball</a:t>
            </a:r>
            <a:r>
              <a:rPr lang="en-US" b="1" dirty="0">
                <a:latin typeface="Calisto MT" panose="02040603050505030304" pitchFamily="18" charset="0"/>
              </a:rPr>
              <a:t>: </a:t>
            </a:r>
            <a:r>
              <a:rPr lang="en-US" dirty="0">
                <a:latin typeface="Calisto MT" panose="02040603050505030304" pitchFamily="18" charset="0"/>
              </a:rPr>
              <a:t>runs / </a:t>
            </a:r>
            <a:r>
              <a:rPr lang="en-US" dirty="0" err="1">
                <a:latin typeface="Calisto MT" panose="02040603050505030304" pitchFamily="18" charset="0"/>
              </a:rPr>
              <a:t>bb_bf</a:t>
            </a:r>
            <a:r>
              <a:rPr lang="en-US" dirty="0">
                <a:latin typeface="Calisto MT" panose="02040603050505030304" pitchFamily="18" charset="0"/>
              </a:rPr>
              <a:t>.</a:t>
            </a:r>
          </a:p>
          <a:p>
            <a:pPr marL="342900" indent="-342900">
              <a:buAutoNum type="arabicPeriod"/>
            </a:pPr>
            <a:r>
              <a:rPr lang="en-US" b="1" dirty="0">
                <a:latin typeface="Calisto MT" panose="02040603050505030304" pitchFamily="18" charset="0"/>
              </a:rPr>
              <a:t>opposition: </a:t>
            </a:r>
            <a:r>
              <a:rPr lang="en-US" dirty="0">
                <a:latin typeface="Calisto MT" panose="02040603050505030304" pitchFamily="18" charset="0"/>
              </a:rPr>
              <a:t>Opposition team the player played against.</a:t>
            </a:r>
          </a:p>
          <a:p>
            <a:pPr marL="342900" indent="-342900">
              <a:buAutoNum type="arabicPeriod"/>
            </a:pPr>
            <a:r>
              <a:rPr lang="en-US" b="1" dirty="0">
                <a:latin typeface="Calisto MT" panose="02040603050505030304" pitchFamily="18" charset="0"/>
              </a:rPr>
              <a:t> ground: </a:t>
            </a:r>
            <a:r>
              <a:rPr lang="en-US" dirty="0">
                <a:latin typeface="Calisto MT" panose="02040603050505030304" pitchFamily="18" charset="0"/>
              </a:rPr>
              <a:t>The place where the match will take place.</a:t>
            </a:r>
          </a:p>
          <a:p>
            <a:pPr marL="342900" indent="-342900">
              <a:buAutoNum type="arabicPeriod"/>
            </a:pPr>
            <a:r>
              <a:rPr lang="en-US" b="1" dirty="0">
                <a:latin typeface="Calisto MT" panose="02040603050505030304" pitchFamily="18" charset="0"/>
              </a:rPr>
              <a:t> </a:t>
            </a:r>
            <a:r>
              <a:rPr lang="en-US" b="1" dirty="0" err="1">
                <a:latin typeface="Calisto MT" panose="02040603050505030304" pitchFamily="18" charset="0"/>
              </a:rPr>
              <a:t>start_date</a:t>
            </a:r>
            <a:r>
              <a:rPr lang="en-US" b="1" dirty="0">
                <a:latin typeface="Calisto MT" panose="02040603050505030304" pitchFamily="18" charset="0"/>
              </a:rPr>
              <a:t>: </a:t>
            </a:r>
            <a:r>
              <a:rPr lang="en-US" dirty="0">
                <a:latin typeface="Calisto MT" panose="02040603050505030304" pitchFamily="18" charset="0"/>
              </a:rPr>
              <a:t>Date of the match.</a:t>
            </a:r>
          </a:p>
          <a:p>
            <a:pPr marL="342900" indent="-342900">
              <a:buAutoNum type="arabicPeriod"/>
            </a:pPr>
            <a:r>
              <a:rPr lang="en-US" b="1" dirty="0">
                <a:latin typeface="Calisto MT" panose="02040603050505030304" pitchFamily="18" charset="0"/>
              </a:rPr>
              <a:t> overs: </a:t>
            </a:r>
            <a:r>
              <a:rPr lang="en-US" dirty="0">
                <a:latin typeface="Calisto MT" panose="02040603050505030304" pitchFamily="18" charset="0"/>
              </a:rPr>
              <a:t>Number of overs made by the bowler.</a:t>
            </a:r>
          </a:p>
          <a:p>
            <a:pPr marL="342900" indent="-342900">
              <a:buAutoNum type="arabicPeriod"/>
            </a:pPr>
            <a:r>
              <a:rPr lang="en-US" b="1" dirty="0">
                <a:latin typeface="Calisto MT" panose="02040603050505030304" pitchFamily="18" charset="0"/>
              </a:rPr>
              <a:t> </a:t>
            </a:r>
            <a:r>
              <a:rPr lang="en-US" b="1" dirty="0" err="1">
                <a:latin typeface="Calisto MT" panose="02040603050505030304" pitchFamily="18" charset="0"/>
              </a:rPr>
              <a:t>mdns</a:t>
            </a:r>
            <a:r>
              <a:rPr lang="en-US" b="1" dirty="0">
                <a:latin typeface="Calisto MT" panose="02040603050505030304" pitchFamily="18" charset="0"/>
              </a:rPr>
              <a:t>: </a:t>
            </a:r>
            <a:r>
              <a:rPr lang="en-US" dirty="0">
                <a:latin typeface="Calisto MT" panose="02040603050505030304" pitchFamily="18" charset="0"/>
              </a:rPr>
              <a:t>Number of maiden overs bowled.</a:t>
            </a:r>
          </a:p>
          <a:p>
            <a:pPr marL="342900" indent="-342900">
              <a:buAutoNum type="arabicPeriod"/>
            </a:pPr>
            <a:r>
              <a:rPr lang="en-US" b="1" dirty="0">
                <a:latin typeface="Calisto MT" panose="02040603050505030304" pitchFamily="18" charset="0"/>
              </a:rPr>
              <a:t> econ: </a:t>
            </a:r>
            <a:r>
              <a:rPr lang="en-US" dirty="0">
                <a:latin typeface="Calisto MT" panose="02040603050505030304" pitchFamily="18" charset="0"/>
              </a:rPr>
              <a:t>The average number of runs the bowler conceded per over bowled.</a:t>
            </a:r>
          </a:p>
          <a:p>
            <a:pPr marL="342900" indent="-342900">
              <a:buAutoNum type="arabicPeriod"/>
            </a:pPr>
            <a:r>
              <a:rPr lang="en-US" b="1" dirty="0">
                <a:latin typeface="Calisto MT" panose="02040603050505030304" pitchFamily="18" charset="0"/>
              </a:rPr>
              <a:t> inns: </a:t>
            </a:r>
            <a:r>
              <a:rPr lang="en-US" dirty="0">
                <a:latin typeface="Calisto MT" panose="02040603050505030304" pitchFamily="18" charset="0"/>
              </a:rPr>
              <a:t>innings.</a:t>
            </a:r>
          </a:p>
          <a:p>
            <a:pPr marL="342900" indent="-342900">
              <a:buAutoNum type="arabicPeriod"/>
            </a:pPr>
            <a:r>
              <a:rPr lang="en-US" b="1" dirty="0">
                <a:latin typeface="Calisto MT" panose="02040603050505030304" pitchFamily="18" charset="0"/>
              </a:rPr>
              <a:t> 4s: </a:t>
            </a:r>
            <a:r>
              <a:rPr lang="en-US" dirty="0">
                <a:latin typeface="Calisto MT" panose="02040603050505030304" pitchFamily="18" charset="0"/>
              </a:rPr>
              <a:t>Number of fours scored by the batsman.</a:t>
            </a:r>
          </a:p>
          <a:p>
            <a:pPr marL="342900" indent="-342900">
              <a:buAutoNum type="arabicPeriod"/>
            </a:pPr>
            <a:r>
              <a:rPr lang="en-US" b="1" dirty="0">
                <a:latin typeface="Calisto MT" panose="02040603050505030304" pitchFamily="18" charset="0"/>
              </a:rPr>
              <a:t> 6s: </a:t>
            </a:r>
            <a:r>
              <a:rPr lang="en-US" dirty="0">
                <a:latin typeface="Calisto MT" panose="02040603050505030304" pitchFamily="18" charset="0"/>
              </a:rPr>
              <a:t>Number of sixes scored by the batsman.</a:t>
            </a:r>
          </a:p>
          <a:p>
            <a:pPr marL="342900" indent="-342900">
              <a:buAutoNum type="arabicPeriod"/>
            </a:pPr>
            <a:r>
              <a:rPr lang="en-US" b="1" dirty="0">
                <a:latin typeface="Calisto MT" panose="02040603050505030304" pitchFamily="18" charset="0"/>
              </a:rPr>
              <a:t> </a:t>
            </a:r>
            <a:r>
              <a:rPr lang="en-US" b="1" dirty="0" err="1">
                <a:latin typeface="Calisto MT" panose="02040603050505030304" pitchFamily="18" charset="0"/>
              </a:rPr>
              <a:t>sr</a:t>
            </a:r>
            <a:r>
              <a:rPr lang="en-US" b="1" dirty="0">
                <a:latin typeface="Calisto MT" panose="02040603050505030304" pitchFamily="18" charset="0"/>
              </a:rPr>
              <a:t>: </a:t>
            </a:r>
            <a:r>
              <a:rPr lang="en-US" dirty="0">
                <a:latin typeface="Calisto MT" panose="02040603050505030304" pitchFamily="18" charset="0"/>
              </a:rPr>
              <a:t>Strike rate of the batsman.</a:t>
            </a:r>
          </a:p>
          <a:p>
            <a:pPr marL="342900" indent="-342900">
              <a:buAutoNum type="arabicPeriod"/>
            </a:pPr>
            <a:r>
              <a:rPr lang="en-US" b="1" dirty="0">
                <a:latin typeface="Calisto MT" panose="02040603050505030304" pitchFamily="18" charset="0"/>
              </a:rPr>
              <a:t> </a:t>
            </a:r>
            <a:r>
              <a:rPr lang="en-US" b="1" dirty="0" err="1">
                <a:latin typeface="Calisto MT" panose="02040603050505030304" pitchFamily="18" charset="0"/>
              </a:rPr>
              <a:t>not_out</a:t>
            </a:r>
            <a:r>
              <a:rPr lang="en-US" b="1" dirty="0">
                <a:latin typeface="Calisto MT" panose="02040603050505030304" pitchFamily="18" charset="0"/>
              </a:rPr>
              <a:t>: </a:t>
            </a:r>
            <a:r>
              <a:rPr lang="en-US" dirty="0">
                <a:latin typeface="Calisto MT" panose="02040603050505030304" pitchFamily="18" charset="0"/>
              </a:rPr>
              <a:t>The batsman was not out.</a:t>
            </a:r>
          </a:p>
          <a:p>
            <a:pPr marL="342900" indent="-342900">
              <a:buAutoNum type="arabicPeriod"/>
            </a:pPr>
            <a:r>
              <a:rPr lang="en-US" b="1" dirty="0">
                <a:latin typeface="Calisto MT" panose="02040603050505030304" pitchFamily="18" charset="0"/>
              </a:rPr>
              <a:t> mins: </a:t>
            </a:r>
            <a:r>
              <a:rPr lang="en-US" dirty="0">
                <a:latin typeface="Calisto MT" panose="02040603050505030304" pitchFamily="18" charset="0"/>
              </a:rPr>
              <a:t>Time period the batsman lasted on the field (minutes).</a:t>
            </a:r>
            <a:endParaRPr lang="en-US" b="1" dirty="0">
              <a:latin typeface="Calisto MT" panose="02040603050505030304" pitchFamily="18" charset="0"/>
            </a:endParaRPr>
          </a:p>
          <a:p>
            <a:pPr marL="342900" indent="-342900">
              <a:buAutoNum type="arabicPeriod"/>
            </a:pPr>
            <a:endParaRPr lang="en-US" b="1" dirty="0">
              <a:latin typeface="Calisto MT" panose="02040603050505030304" pitchFamily="18" charset="0"/>
            </a:endParaRPr>
          </a:p>
        </p:txBody>
      </p:sp>
    </p:spTree>
    <p:extLst>
      <p:ext uri="{BB962C8B-B14F-4D97-AF65-F5344CB8AC3E}">
        <p14:creationId xmlns:p14="http://schemas.microsoft.com/office/powerpoint/2010/main" val="19045709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EE8F0-1A20-4A44-8F9D-352FF8348B24}"/>
              </a:ext>
            </a:extLst>
          </p:cNvPr>
          <p:cNvSpPr>
            <a:spLocks noGrp="1"/>
          </p:cNvSpPr>
          <p:nvPr>
            <p:ph type="ctrTitle"/>
          </p:nvPr>
        </p:nvSpPr>
        <p:spPr>
          <a:xfrm>
            <a:off x="917447" y="1827365"/>
            <a:ext cx="7315200" cy="3255264"/>
          </a:xfrm>
        </p:spPr>
        <p:txBody>
          <a:bodyPr anchor="ctr"/>
          <a:lstStyle/>
          <a:p>
            <a:pPr algn="ctr"/>
            <a:r>
              <a:rPr lang="en-US" dirty="0">
                <a:latin typeface="Forte" panose="03060902040502070203" pitchFamily="66" charset="0"/>
              </a:rPr>
              <a:t>Exploratory Data Analysis</a:t>
            </a:r>
            <a:endParaRPr lang="en-CM" dirty="0">
              <a:latin typeface="Forte" panose="03060902040502070203" pitchFamily="66" charset="0"/>
            </a:endParaRPr>
          </a:p>
        </p:txBody>
      </p:sp>
    </p:spTree>
    <p:extLst>
      <p:ext uri="{BB962C8B-B14F-4D97-AF65-F5344CB8AC3E}">
        <p14:creationId xmlns:p14="http://schemas.microsoft.com/office/powerpoint/2010/main" val="42191131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17A072C-9210-4B08-85A6-FA2CB21A94EC}"/>
              </a:ext>
            </a:extLst>
          </p:cNvPr>
          <p:cNvSpPr txBox="1"/>
          <p:nvPr/>
        </p:nvSpPr>
        <p:spPr>
          <a:xfrm>
            <a:off x="-1" y="98610"/>
            <a:ext cx="3361766" cy="400110"/>
          </a:xfrm>
          <a:prstGeom prst="rect">
            <a:avLst/>
          </a:prstGeom>
          <a:noFill/>
        </p:spPr>
        <p:txBody>
          <a:bodyPr wrap="square" rtlCol="0">
            <a:spAutoFit/>
          </a:bodyPr>
          <a:lstStyle/>
          <a:p>
            <a:r>
              <a:rPr lang="en-US" sz="2000" b="1" dirty="0">
                <a:latin typeface="Calisto MT" panose="02040603050505030304" pitchFamily="18" charset="0"/>
              </a:rPr>
              <a:t>Team Performance Analysis</a:t>
            </a:r>
            <a:endParaRPr lang="en-CM" sz="2000" b="1" dirty="0">
              <a:latin typeface="Calisto MT" panose="02040603050505030304" pitchFamily="18" charset="0"/>
            </a:endParaRPr>
          </a:p>
        </p:txBody>
      </p:sp>
      <p:pic>
        <p:nvPicPr>
          <p:cNvPr id="4" name="Picture 3">
            <a:extLst>
              <a:ext uri="{FF2B5EF4-FFF2-40B4-BE49-F238E27FC236}">
                <a16:creationId xmlns:a16="http://schemas.microsoft.com/office/drawing/2014/main" id="{EC0B7493-547A-4FB4-98DA-A59A008FB2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894" y="498720"/>
            <a:ext cx="5145712" cy="3275424"/>
          </a:xfrm>
          <a:prstGeom prst="rect">
            <a:avLst/>
          </a:prstGeom>
          <a:ln>
            <a:solidFill>
              <a:schemeClr val="tx1"/>
            </a:solidFill>
          </a:ln>
        </p:spPr>
      </p:pic>
      <p:pic>
        <p:nvPicPr>
          <p:cNvPr id="6" name="Picture 5">
            <a:extLst>
              <a:ext uri="{FF2B5EF4-FFF2-40B4-BE49-F238E27FC236}">
                <a16:creationId xmlns:a16="http://schemas.microsoft.com/office/drawing/2014/main" id="{9F99D805-7FF9-4356-8619-FA64BEBC96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27694" y="93283"/>
            <a:ext cx="5764306" cy="2075703"/>
          </a:xfrm>
          <a:prstGeom prst="rect">
            <a:avLst/>
          </a:prstGeom>
        </p:spPr>
      </p:pic>
      <p:pic>
        <p:nvPicPr>
          <p:cNvPr id="8" name="Picture 7">
            <a:extLst>
              <a:ext uri="{FF2B5EF4-FFF2-40B4-BE49-F238E27FC236}">
                <a16:creationId xmlns:a16="http://schemas.microsoft.com/office/drawing/2014/main" id="{F1FA070D-AB60-420F-9453-CCC6EB261F6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08376" y="2190222"/>
            <a:ext cx="5656729" cy="2321859"/>
          </a:xfrm>
          <a:prstGeom prst="rect">
            <a:avLst/>
          </a:prstGeom>
        </p:spPr>
      </p:pic>
      <p:pic>
        <p:nvPicPr>
          <p:cNvPr id="10" name="Picture 9">
            <a:extLst>
              <a:ext uri="{FF2B5EF4-FFF2-40B4-BE49-F238E27FC236}">
                <a16:creationId xmlns:a16="http://schemas.microsoft.com/office/drawing/2014/main" id="{D9A6928E-869C-4A84-9A88-9B1C180CA0A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6895" y="3774144"/>
            <a:ext cx="5145711" cy="3074896"/>
          </a:xfrm>
          <a:prstGeom prst="rect">
            <a:avLst/>
          </a:prstGeom>
          <a:ln>
            <a:solidFill>
              <a:schemeClr val="tx1"/>
            </a:solidFill>
          </a:ln>
        </p:spPr>
      </p:pic>
      <p:pic>
        <p:nvPicPr>
          <p:cNvPr id="12" name="Picture 11">
            <a:extLst>
              <a:ext uri="{FF2B5EF4-FFF2-40B4-BE49-F238E27FC236}">
                <a16:creationId xmlns:a16="http://schemas.microsoft.com/office/drawing/2014/main" id="{1B4B24B2-8FCA-4BEA-8150-85EB8FDAC6E0}"/>
              </a:ext>
            </a:extLst>
          </p:cNvPr>
          <p:cNvPicPr>
            <a:picLocks noChangeAspect="1"/>
          </p:cNvPicPr>
          <p:nvPr/>
        </p:nvPicPr>
        <p:blipFill>
          <a:blip r:embed="rId6"/>
          <a:stretch>
            <a:fillRect/>
          </a:stretch>
        </p:blipFill>
        <p:spPr>
          <a:xfrm>
            <a:off x="6517338" y="4517746"/>
            <a:ext cx="5647767" cy="2349224"/>
          </a:xfrm>
          <a:prstGeom prst="rect">
            <a:avLst/>
          </a:prstGeom>
        </p:spPr>
      </p:pic>
      <p:cxnSp>
        <p:nvCxnSpPr>
          <p:cNvPr id="14" name="Connector: Elbow 13">
            <a:extLst>
              <a:ext uri="{FF2B5EF4-FFF2-40B4-BE49-F238E27FC236}">
                <a16:creationId xmlns:a16="http://schemas.microsoft.com/office/drawing/2014/main" id="{7FBBAB3B-1D27-40EE-B835-650280BD7B57}"/>
              </a:ext>
            </a:extLst>
          </p:cNvPr>
          <p:cNvCxnSpPr>
            <a:cxnSpLocks/>
          </p:cNvCxnSpPr>
          <p:nvPr/>
        </p:nvCxnSpPr>
        <p:spPr>
          <a:xfrm flipV="1">
            <a:off x="5172602" y="1131135"/>
            <a:ext cx="1255088" cy="1005297"/>
          </a:xfrm>
          <a:prstGeom prst="bentConnector3">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3" name="Connector: Elbow 22">
            <a:extLst>
              <a:ext uri="{FF2B5EF4-FFF2-40B4-BE49-F238E27FC236}">
                <a16:creationId xmlns:a16="http://schemas.microsoft.com/office/drawing/2014/main" id="{2D5D4F8F-191B-46E0-B5B4-9EA03C46EBF4}"/>
              </a:ext>
            </a:extLst>
          </p:cNvPr>
          <p:cNvCxnSpPr>
            <a:stCxn id="4" idx="3"/>
            <a:endCxn id="8" idx="1"/>
          </p:cNvCxnSpPr>
          <p:nvPr/>
        </p:nvCxnSpPr>
        <p:spPr>
          <a:xfrm>
            <a:off x="5172606" y="2136432"/>
            <a:ext cx="1335770" cy="1214720"/>
          </a:xfrm>
          <a:prstGeom prst="bentConnector3">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5" name="Connector: Elbow 24">
            <a:extLst>
              <a:ext uri="{FF2B5EF4-FFF2-40B4-BE49-F238E27FC236}">
                <a16:creationId xmlns:a16="http://schemas.microsoft.com/office/drawing/2014/main" id="{4C77EE45-28E7-4EC0-82B4-A133BF0BC5AD}"/>
              </a:ext>
            </a:extLst>
          </p:cNvPr>
          <p:cNvCxnSpPr>
            <a:stCxn id="10" idx="3"/>
            <a:endCxn id="12" idx="1"/>
          </p:cNvCxnSpPr>
          <p:nvPr/>
        </p:nvCxnSpPr>
        <p:spPr>
          <a:xfrm>
            <a:off x="5172606" y="5311592"/>
            <a:ext cx="1344732" cy="380766"/>
          </a:xfrm>
          <a:prstGeom prst="bentConnector3">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4683318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78FE6AB-5972-4503-85CE-66B71E362FDB}"/>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5819091" y="2288522"/>
            <a:ext cx="3415553" cy="1952380"/>
          </a:xfrm>
          <a:prstGeom prst="rect">
            <a:avLst/>
          </a:prstGeom>
        </p:spPr>
      </p:pic>
      <p:sp>
        <p:nvSpPr>
          <p:cNvPr id="3" name="Content Placeholder 2">
            <a:extLst>
              <a:ext uri="{FF2B5EF4-FFF2-40B4-BE49-F238E27FC236}">
                <a16:creationId xmlns:a16="http://schemas.microsoft.com/office/drawing/2014/main" id="{E293B9FD-030E-4461-A353-8D968EDECBDA}"/>
              </a:ext>
            </a:extLst>
          </p:cNvPr>
          <p:cNvSpPr>
            <a:spLocks noGrp="1"/>
          </p:cNvSpPr>
          <p:nvPr>
            <p:ph idx="1"/>
          </p:nvPr>
        </p:nvSpPr>
        <p:spPr/>
        <p:txBody>
          <a:bodyPr anchor="ctr"/>
          <a:lstStyle/>
          <a:p>
            <a:pPr marL="0" indent="0" algn="ctr">
              <a:buNone/>
            </a:pPr>
            <a:r>
              <a:rPr lang="en-US" b="1" dirty="0">
                <a:solidFill>
                  <a:schemeClr val="tx1"/>
                </a:solidFill>
                <a:latin typeface="Calisto MT" panose="02040603050505030304" pitchFamily="18" charset="0"/>
              </a:rPr>
              <a:t>Findings</a:t>
            </a:r>
            <a:endParaRPr lang="en-US" sz="1400" b="1" dirty="0">
              <a:solidFill>
                <a:schemeClr val="tx1"/>
              </a:solidFill>
              <a:latin typeface="Calisto MT" panose="02040603050505030304" pitchFamily="18" charset="0"/>
            </a:endParaRPr>
          </a:p>
          <a:p>
            <a:pPr marL="342900" indent="-342900">
              <a:buAutoNum type="arabicParenR"/>
            </a:pPr>
            <a:r>
              <a:rPr lang="en-US" sz="1400" dirty="0">
                <a:solidFill>
                  <a:schemeClr val="tx1"/>
                </a:solidFill>
                <a:latin typeface="Calisto MT" panose="02040603050505030304" pitchFamily="18" charset="0"/>
              </a:rPr>
              <a:t>“IND”</a:t>
            </a:r>
            <a:r>
              <a:rPr lang="en-US" sz="1400" b="0" dirty="0">
                <a:solidFill>
                  <a:schemeClr val="tx1"/>
                </a:solidFill>
                <a:effectLst/>
                <a:latin typeface="Calisto MT" panose="02040603050505030304" pitchFamily="18" charset="0"/>
              </a:rPr>
              <a:t> scored more runs during the tournament. Second by “SA”, third by “AUS” and fourth by “NZ”. Similarly, “IND” has the highest number of wickets in the tournament with “SA” being the second, “AUS” being the third and “NZ” the fourth.</a:t>
            </a:r>
          </a:p>
          <a:p>
            <a:pPr marL="342900" indent="-342900">
              <a:buAutoNum type="arabicParenR"/>
            </a:pPr>
            <a:r>
              <a:rPr lang="en-US" sz="1400" b="0" dirty="0">
                <a:solidFill>
                  <a:schemeClr val="tx1"/>
                </a:solidFill>
                <a:effectLst/>
                <a:latin typeface="Calisto MT" panose="02040603050505030304" pitchFamily="18" charset="0"/>
              </a:rPr>
              <a:t>The top performing teams during the tournament are “IND”, “SA”, “AUS” and “NZ”.</a:t>
            </a:r>
          </a:p>
          <a:p>
            <a:pPr marL="342900" indent="-342900">
              <a:buAutoNum type="arabicParenR"/>
            </a:pPr>
            <a:r>
              <a:rPr lang="en-US" sz="1400" dirty="0">
                <a:solidFill>
                  <a:schemeClr val="tx1"/>
                </a:solidFill>
                <a:latin typeface="Calisto MT" panose="02040603050505030304" pitchFamily="18" charset="0"/>
              </a:rPr>
              <a:t>With these four teams being the top performers in runs scored and wickets taken, they possess both competent batting and bowling capabilities.</a:t>
            </a:r>
            <a:endParaRPr lang="en-US" sz="1400" b="0" dirty="0">
              <a:solidFill>
                <a:schemeClr val="tx1"/>
              </a:solidFill>
              <a:effectLst/>
              <a:latin typeface="Calisto MT" panose="02040603050505030304" pitchFamily="18" charset="0"/>
            </a:endParaRPr>
          </a:p>
          <a:p>
            <a:pPr marL="342900" indent="-342900">
              <a:buAutoNum type="arabicParenR"/>
            </a:pPr>
            <a:r>
              <a:rPr lang="en-US" sz="1400" b="0" dirty="0">
                <a:solidFill>
                  <a:schemeClr val="tx1"/>
                </a:solidFill>
                <a:effectLst/>
                <a:latin typeface="Calisto MT" panose="02040603050505030304" pitchFamily="18" charset="0"/>
              </a:rPr>
              <a:t>With “AUS” possessing the highest boundary percentage of about 59.22%, this implies that it scored 59.22% of its run by fours and sixes.</a:t>
            </a:r>
          </a:p>
          <a:p>
            <a:pPr marL="342900" indent="-342900">
              <a:buAutoNum type="arabicParenR"/>
            </a:pPr>
            <a:endParaRPr lang="en-US" sz="1400" b="0" dirty="0">
              <a:solidFill>
                <a:schemeClr val="tx1"/>
              </a:solidFill>
              <a:effectLst/>
              <a:latin typeface="Calisto MT" panose="02040603050505030304" pitchFamily="18" charset="0"/>
            </a:endParaRPr>
          </a:p>
          <a:p>
            <a:pPr marL="0" indent="0" algn="ctr">
              <a:buNone/>
            </a:pPr>
            <a:endParaRPr lang="en-US" b="1" dirty="0">
              <a:solidFill>
                <a:schemeClr val="tx1"/>
              </a:solidFill>
              <a:latin typeface="Calisto MT" panose="02040603050505030304" pitchFamily="18" charset="0"/>
            </a:endParaRPr>
          </a:p>
        </p:txBody>
      </p:sp>
    </p:spTree>
    <p:extLst>
      <p:ext uri="{BB962C8B-B14F-4D97-AF65-F5344CB8AC3E}">
        <p14:creationId xmlns:p14="http://schemas.microsoft.com/office/powerpoint/2010/main" val="13936481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50E93E5-0CD0-4955-9E43-961B65E72351}"/>
              </a:ext>
            </a:extLst>
          </p:cNvPr>
          <p:cNvSpPr txBox="1"/>
          <p:nvPr/>
        </p:nvSpPr>
        <p:spPr>
          <a:xfrm>
            <a:off x="8960" y="98611"/>
            <a:ext cx="3415553" cy="400110"/>
          </a:xfrm>
          <a:prstGeom prst="rect">
            <a:avLst/>
          </a:prstGeom>
          <a:noFill/>
        </p:spPr>
        <p:txBody>
          <a:bodyPr wrap="square" rtlCol="0">
            <a:spAutoFit/>
          </a:bodyPr>
          <a:lstStyle/>
          <a:p>
            <a:r>
              <a:rPr lang="en-US" sz="2000" b="1" dirty="0">
                <a:latin typeface="Calisto MT" panose="02040603050505030304" pitchFamily="18" charset="0"/>
              </a:rPr>
              <a:t>Player Performance Analysis</a:t>
            </a:r>
            <a:endParaRPr lang="en-CM" sz="2000" b="1" dirty="0">
              <a:latin typeface="Calisto MT" panose="02040603050505030304" pitchFamily="18" charset="0"/>
            </a:endParaRPr>
          </a:p>
        </p:txBody>
      </p:sp>
      <p:pic>
        <p:nvPicPr>
          <p:cNvPr id="5" name="Picture 4">
            <a:extLst>
              <a:ext uri="{FF2B5EF4-FFF2-40B4-BE49-F238E27FC236}">
                <a16:creationId xmlns:a16="http://schemas.microsoft.com/office/drawing/2014/main" id="{725E5AF9-CD68-4261-9641-885248E9E4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 y="504631"/>
            <a:ext cx="5304532" cy="1972236"/>
          </a:xfrm>
          <a:prstGeom prst="rect">
            <a:avLst/>
          </a:prstGeom>
        </p:spPr>
      </p:pic>
      <p:pic>
        <p:nvPicPr>
          <p:cNvPr id="7" name="Picture 6">
            <a:extLst>
              <a:ext uri="{FF2B5EF4-FFF2-40B4-BE49-F238E27FC236}">
                <a16:creationId xmlns:a16="http://schemas.microsoft.com/office/drawing/2014/main" id="{434933B8-8FC7-4005-99D1-2FD62EB8CB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 y="2563902"/>
            <a:ext cx="5304532" cy="1972236"/>
          </a:xfrm>
          <a:prstGeom prst="rect">
            <a:avLst/>
          </a:prstGeom>
        </p:spPr>
      </p:pic>
      <p:pic>
        <p:nvPicPr>
          <p:cNvPr id="11" name="Picture 10">
            <a:extLst>
              <a:ext uri="{FF2B5EF4-FFF2-40B4-BE49-F238E27FC236}">
                <a16:creationId xmlns:a16="http://schemas.microsoft.com/office/drawing/2014/main" id="{98C4BFC3-36BE-4374-A9A5-192F28D2AF7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4580966"/>
            <a:ext cx="5304527" cy="2277034"/>
          </a:xfrm>
          <a:prstGeom prst="rect">
            <a:avLst/>
          </a:prstGeom>
        </p:spPr>
      </p:pic>
      <p:pic>
        <p:nvPicPr>
          <p:cNvPr id="13" name="Picture 12">
            <a:extLst>
              <a:ext uri="{FF2B5EF4-FFF2-40B4-BE49-F238E27FC236}">
                <a16:creationId xmlns:a16="http://schemas.microsoft.com/office/drawing/2014/main" id="{911175E7-207F-42CF-8BA0-1FC624AAA57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56281" y="225342"/>
            <a:ext cx="3339509" cy="3213085"/>
          </a:xfrm>
          <a:prstGeom prst="rect">
            <a:avLst/>
          </a:prstGeom>
        </p:spPr>
      </p:pic>
      <p:pic>
        <p:nvPicPr>
          <p:cNvPr id="15" name="Picture 14">
            <a:extLst>
              <a:ext uri="{FF2B5EF4-FFF2-40B4-BE49-F238E27FC236}">
                <a16:creationId xmlns:a16="http://schemas.microsoft.com/office/drawing/2014/main" id="{1847B47C-E56E-4809-B4DA-518D56E3B8D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918565" y="3521739"/>
            <a:ext cx="3339509" cy="3293447"/>
          </a:xfrm>
          <a:prstGeom prst="rect">
            <a:avLst/>
          </a:prstGeom>
        </p:spPr>
      </p:pic>
    </p:spTree>
    <p:extLst>
      <p:ext uri="{BB962C8B-B14F-4D97-AF65-F5344CB8AC3E}">
        <p14:creationId xmlns:p14="http://schemas.microsoft.com/office/powerpoint/2010/main" val="17732591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9F77F00-F96A-451C-9CD1-B1859E6A95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519" y="1590777"/>
            <a:ext cx="3857337" cy="3810782"/>
          </a:xfrm>
          <a:prstGeom prst="rect">
            <a:avLst/>
          </a:prstGeom>
        </p:spPr>
      </p:pic>
      <p:pic>
        <p:nvPicPr>
          <p:cNvPr id="3" name="Picture 2">
            <a:extLst>
              <a:ext uri="{FF2B5EF4-FFF2-40B4-BE49-F238E27FC236}">
                <a16:creationId xmlns:a16="http://schemas.microsoft.com/office/drawing/2014/main" id="{3BB0CE78-3143-4C66-A12C-65625F976B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70141" y="1634052"/>
            <a:ext cx="3877873" cy="3810782"/>
          </a:xfrm>
          <a:prstGeom prst="rect">
            <a:avLst/>
          </a:prstGeom>
        </p:spPr>
      </p:pic>
      <p:pic>
        <p:nvPicPr>
          <p:cNvPr id="5" name="Picture 4">
            <a:extLst>
              <a:ext uri="{FF2B5EF4-FFF2-40B4-BE49-F238E27FC236}">
                <a16:creationId xmlns:a16="http://schemas.microsoft.com/office/drawing/2014/main" id="{E78BA2E0-82A5-4FE3-9C78-78F31C775E5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41821" y="1634052"/>
            <a:ext cx="3844092" cy="3810782"/>
          </a:xfrm>
          <a:prstGeom prst="rect">
            <a:avLst/>
          </a:prstGeom>
        </p:spPr>
      </p:pic>
    </p:spTree>
    <p:extLst>
      <p:ext uri="{BB962C8B-B14F-4D97-AF65-F5344CB8AC3E}">
        <p14:creationId xmlns:p14="http://schemas.microsoft.com/office/powerpoint/2010/main" val="24182284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0157B6-434A-4982-AD75-05E7AD8D8C81}"/>
              </a:ext>
            </a:extLst>
          </p:cNvPr>
          <p:cNvSpPr>
            <a:spLocks noGrp="1"/>
          </p:cNvSpPr>
          <p:nvPr>
            <p:ph idx="1"/>
          </p:nvPr>
        </p:nvSpPr>
        <p:spPr>
          <a:xfrm>
            <a:off x="3746720" y="1979627"/>
            <a:ext cx="7315200" cy="4278497"/>
          </a:xfrm>
        </p:spPr>
        <p:txBody>
          <a:bodyPr>
            <a:normAutofit fontScale="92500"/>
          </a:bodyPr>
          <a:lstStyle/>
          <a:p>
            <a:pPr marL="0" indent="0" algn="ctr">
              <a:buNone/>
            </a:pPr>
            <a:r>
              <a:rPr lang="en-US" b="1" dirty="0">
                <a:solidFill>
                  <a:schemeClr val="tx1"/>
                </a:solidFill>
                <a:latin typeface="Calisto MT" panose="02040603050505030304" pitchFamily="18" charset="0"/>
              </a:rPr>
              <a:t>Findings</a:t>
            </a:r>
          </a:p>
          <a:p>
            <a:pPr marL="342900" indent="-342900">
              <a:buAutoNum type="arabicParenR"/>
            </a:pPr>
            <a:r>
              <a:rPr lang="en-US" sz="1400" b="0" i="0" dirty="0">
                <a:solidFill>
                  <a:schemeClr val="tx1"/>
                </a:solidFill>
                <a:effectLst/>
                <a:latin typeface="Calisto MT" panose="02040603050505030304" pitchFamily="18" charset="0"/>
              </a:rPr>
              <a:t>The leading run scorer of the World Cup 2023 tournament was “V Kohli” from </a:t>
            </a:r>
            <a:r>
              <a:rPr lang="en-US" sz="1400" dirty="0">
                <a:solidFill>
                  <a:schemeClr val="tx1"/>
                </a:solidFill>
                <a:latin typeface="Calisto MT" panose="02040603050505030304" pitchFamily="18" charset="0"/>
              </a:rPr>
              <a:t>“</a:t>
            </a:r>
            <a:r>
              <a:rPr lang="en-US" sz="1400" b="0" i="0" dirty="0">
                <a:solidFill>
                  <a:schemeClr val="tx1"/>
                </a:solidFill>
                <a:effectLst/>
                <a:latin typeface="Calisto MT" panose="02040603050505030304" pitchFamily="18" charset="0"/>
              </a:rPr>
              <a:t>IND” team with a total run score of more than 700. Second by “Q de Kock” from “SA</a:t>
            </a:r>
            <a:r>
              <a:rPr lang="en-US" sz="1400" dirty="0">
                <a:solidFill>
                  <a:schemeClr val="tx1"/>
                </a:solidFill>
                <a:latin typeface="Calisto MT" panose="02040603050505030304" pitchFamily="18" charset="0"/>
              </a:rPr>
              <a:t>” team</a:t>
            </a:r>
            <a:r>
              <a:rPr lang="en-US" sz="1400" b="0" i="0" dirty="0">
                <a:solidFill>
                  <a:schemeClr val="tx1"/>
                </a:solidFill>
                <a:effectLst/>
                <a:latin typeface="Calisto MT" panose="02040603050505030304" pitchFamily="18" charset="0"/>
              </a:rPr>
              <a:t> and third by “R Ravindra” from “NZ</a:t>
            </a:r>
            <a:r>
              <a:rPr lang="en-US" sz="1400" dirty="0">
                <a:solidFill>
                  <a:schemeClr val="tx1"/>
                </a:solidFill>
                <a:latin typeface="Calisto MT" panose="02040603050505030304" pitchFamily="18" charset="0"/>
              </a:rPr>
              <a:t>” team</a:t>
            </a:r>
            <a:r>
              <a:rPr lang="en-US" sz="1400" b="0" i="0" dirty="0">
                <a:solidFill>
                  <a:schemeClr val="tx1"/>
                </a:solidFill>
                <a:effectLst/>
                <a:latin typeface="Calisto MT" panose="02040603050505030304" pitchFamily="18" charset="0"/>
              </a:rPr>
              <a:t>.</a:t>
            </a:r>
          </a:p>
          <a:p>
            <a:pPr marL="342900" indent="-342900">
              <a:buAutoNum type="arabicParenR"/>
            </a:pPr>
            <a:r>
              <a:rPr lang="en-US" sz="1400" b="0" i="0" dirty="0">
                <a:solidFill>
                  <a:schemeClr val="tx1"/>
                </a:solidFill>
                <a:effectLst/>
                <a:latin typeface="Calisto MT" panose="02040603050505030304" pitchFamily="18" charset="0"/>
              </a:rPr>
              <a:t>The leading wicket takers of the World Cup 2023 tournament was “Mohammed </a:t>
            </a:r>
            <a:r>
              <a:rPr lang="en-US" sz="1400" b="0" i="0" dirty="0" err="1">
                <a:solidFill>
                  <a:schemeClr val="tx1"/>
                </a:solidFill>
                <a:effectLst/>
                <a:latin typeface="Calisto MT" panose="02040603050505030304" pitchFamily="18" charset="0"/>
              </a:rPr>
              <a:t>Shami</a:t>
            </a:r>
            <a:r>
              <a:rPr lang="en-US" sz="1400" dirty="0">
                <a:solidFill>
                  <a:schemeClr val="tx1"/>
                </a:solidFill>
                <a:latin typeface="Calisto MT" panose="02040603050505030304" pitchFamily="18" charset="0"/>
              </a:rPr>
              <a:t>”</a:t>
            </a:r>
            <a:r>
              <a:rPr lang="en-US" sz="1400" b="0" i="0" dirty="0">
                <a:solidFill>
                  <a:schemeClr val="tx1"/>
                </a:solidFill>
                <a:effectLst/>
                <a:latin typeface="Calisto MT" panose="02040603050505030304" pitchFamily="18" charset="0"/>
              </a:rPr>
              <a:t> from “IND</a:t>
            </a:r>
            <a:r>
              <a:rPr lang="en-US" sz="1400" dirty="0">
                <a:solidFill>
                  <a:schemeClr val="tx1"/>
                </a:solidFill>
                <a:latin typeface="Calisto MT" panose="02040603050505030304" pitchFamily="18" charset="0"/>
              </a:rPr>
              <a:t>”</a:t>
            </a:r>
            <a:r>
              <a:rPr lang="en-US" sz="1400" b="0" i="0" dirty="0">
                <a:solidFill>
                  <a:schemeClr val="tx1"/>
                </a:solidFill>
                <a:effectLst/>
                <a:latin typeface="Calisto MT" panose="02040603050505030304" pitchFamily="18" charset="0"/>
              </a:rPr>
              <a:t> team with a total number of wicket greater than 20. Second by “A </a:t>
            </a:r>
            <a:r>
              <a:rPr lang="en-US" sz="1400" b="0" i="0" dirty="0" err="1">
                <a:solidFill>
                  <a:schemeClr val="tx1"/>
                </a:solidFill>
                <a:effectLst/>
                <a:latin typeface="Calisto MT" panose="02040603050505030304" pitchFamily="18" charset="0"/>
              </a:rPr>
              <a:t>Zampa</a:t>
            </a:r>
            <a:r>
              <a:rPr lang="en-US" sz="1400" dirty="0">
                <a:solidFill>
                  <a:schemeClr val="tx1"/>
                </a:solidFill>
                <a:latin typeface="Calisto MT" panose="02040603050505030304" pitchFamily="18" charset="0"/>
              </a:rPr>
              <a:t>”</a:t>
            </a:r>
            <a:r>
              <a:rPr lang="en-US" sz="1400" b="0" i="0" dirty="0">
                <a:solidFill>
                  <a:schemeClr val="tx1"/>
                </a:solidFill>
                <a:effectLst/>
                <a:latin typeface="Calisto MT" panose="02040603050505030304" pitchFamily="18" charset="0"/>
              </a:rPr>
              <a:t> from “AUS</a:t>
            </a:r>
            <a:r>
              <a:rPr lang="en-US" sz="1400" dirty="0">
                <a:solidFill>
                  <a:schemeClr val="tx1"/>
                </a:solidFill>
                <a:latin typeface="Calisto MT" panose="02040603050505030304" pitchFamily="18" charset="0"/>
              </a:rPr>
              <a:t>”</a:t>
            </a:r>
            <a:r>
              <a:rPr lang="en-US" sz="1400" b="0" i="0" dirty="0">
                <a:solidFill>
                  <a:schemeClr val="tx1"/>
                </a:solidFill>
                <a:effectLst/>
                <a:latin typeface="Calisto MT" panose="02040603050505030304" pitchFamily="18" charset="0"/>
              </a:rPr>
              <a:t> team and third by “D </a:t>
            </a:r>
            <a:r>
              <a:rPr lang="en-US" sz="1400" b="0" i="0" dirty="0" err="1">
                <a:solidFill>
                  <a:schemeClr val="tx1"/>
                </a:solidFill>
                <a:effectLst/>
                <a:latin typeface="Calisto MT" panose="02040603050505030304" pitchFamily="18" charset="0"/>
              </a:rPr>
              <a:t>Madushanka</a:t>
            </a:r>
            <a:r>
              <a:rPr lang="en-US" sz="1400" dirty="0">
                <a:solidFill>
                  <a:schemeClr val="tx1"/>
                </a:solidFill>
                <a:latin typeface="Calisto MT" panose="02040603050505030304" pitchFamily="18" charset="0"/>
              </a:rPr>
              <a:t>”</a:t>
            </a:r>
            <a:r>
              <a:rPr lang="en-US" sz="1400" b="0" i="0" dirty="0">
                <a:solidFill>
                  <a:schemeClr val="tx1"/>
                </a:solidFill>
                <a:effectLst/>
                <a:latin typeface="Calisto MT" panose="02040603050505030304" pitchFamily="18" charset="0"/>
              </a:rPr>
              <a:t> from “SL” team.</a:t>
            </a:r>
          </a:p>
          <a:p>
            <a:pPr marL="342900" indent="-342900">
              <a:buAutoNum type="arabicParenR"/>
            </a:pPr>
            <a:r>
              <a:rPr lang="en-US" sz="1400" dirty="0">
                <a:solidFill>
                  <a:schemeClr val="tx1"/>
                </a:solidFill>
                <a:latin typeface="Calisto MT" panose="02040603050505030304" pitchFamily="18" charset="0"/>
              </a:rPr>
              <a:t>Player with the most </a:t>
            </a:r>
            <a:r>
              <a:rPr lang="en-US" sz="1400" dirty="0" err="1">
                <a:solidFill>
                  <a:schemeClr val="tx1"/>
                </a:solidFill>
                <a:latin typeface="Calisto MT" panose="02040603050505030304" pitchFamily="18" charset="0"/>
              </a:rPr>
              <a:t>not_out</a:t>
            </a:r>
            <a:r>
              <a:rPr lang="en-US" sz="1400" dirty="0">
                <a:solidFill>
                  <a:schemeClr val="tx1"/>
                </a:solidFill>
                <a:latin typeface="Calisto MT" panose="02040603050505030304" pitchFamily="18" charset="0"/>
              </a:rPr>
              <a:t> value was “</a:t>
            </a:r>
            <a:r>
              <a:rPr lang="en-US" sz="1400" dirty="0" err="1">
                <a:solidFill>
                  <a:schemeClr val="tx1"/>
                </a:solidFill>
                <a:latin typeface="Calisto MT" panose="02040603050505030304" pitchFamily="18" charset="0"/>
              </a:rPr>
              <a:t>Shoriful</a:t>
            </a:r>
            <a:r>
              <a:rPr lang="en-US" sz="1400" dirty="0">
                <a:solidFill>
                  <a:schemeClr val="tx1"/>
                </a:solidFill>
                <a:latin typeface="Calisto MT" panose="02040603050505030304" pitchFamily="18" charset="0"/>
              </a:rPr>
              <a:t> Islam” from “BAN” team.</a:t>
            </a:r>
            <a:endParaRPr lang="en-US" sz="1400" b="0" i="0" dirty="0">
              <a:solidFill>
                <a:schemeClr val="tx1"/>
              </a:solidFill>
              <a:effectLst/>
              <a:latin typeface="Calisto MT" panose="02040603050505030304" pitchFamily="18" charset="0"/>
            </a:endParaRPr>
          </a:p>
          <a:p>
            <a:pPr marL="342900" indent="-342900">
              <a:buFont typeface="Wingdings 2" pitchFamily="18" charset="2"/>
              <a:buAutoNum type="arabicParenR"/>
            </a:pPr>
            <a:r>
              <a:rPr lang="en-US" sz="1400" i="0" dirty="0">
                <a:solidFill>
                  <a:schemeClr val="tx1"/>
                </a:solidFill>
                <a:effectLst/>
                <a:latin typeface="Calisto MT" panose="02040603050505030304" pitchFamily="18" charset="0"/>
              </a:rPr>
              <a:t>Players of each teams that participated in the tournament contributed not more than 23% of their team's total runs, except for the team “IND</a:t>
            </a:r>
            <a:r>
              <a:rPr lang="en-US" sz="1400" dirty="0">
                <a:solidFill>
                  <a:schemeClr val="tx1"/>
                </a:solidFill>
                <a:latin typeface="Calisto MT" panose="02040603050505030304" pitchFamily="18" charset="0"/>
              </a:rPr>
              <a:t>”</a:t>
            </a:r>
            <a:r>
              <a:rPr lang="en-US" sz="1400" i="0" dirty="0">
                <a:solidFill>
                  <a:schemeClr val="tx1"/>
                </a:solidFill>
                <a:effectLst/>
                <a:latin typeface="Calisto MT" panose="02040603050505030304" pitchFamily="18" charset="0"/>
              </a:rPr>
              <a:t> with just a player that contributed more than 25% (“V Kohli”) of the team's total run.</a:t>
            </a:r>
          </a:p>
          <a:p>
            <a:pPr marL="342900" indent="-342900">
              <a:buFont typeface="Wingdings 2" pitchFamily="18" charset="2"/>
              <a:buAutoNum type="arabicParenR"/>
            </a:pPr>
            <a:r>
              <a:rPr lang="en-US" sz="1400" b="0" i="0" dirty="0">
                <a:solidFill>
                  <a:schemeClr val="tx1"/>
                </a:solidFill>
                <a:effectLst/>
                <a:latin typeface="Calisto MT" panose="02040603050505030304" pitchFamily="18" charset="0"/>
              </a:rPr>
              <a:t>There are six teams with players that contributed less than 25% of the wickets taken (</a:t>
            </a:r>
            <a:r>
              <a:rPr lang="en-US" sz="1400" b="0" i="0" dirty="0" err="1">
                <a:solidFill>
                  <a:schemeClr val="tx1"/>
                </a:solidFill>
                <a:effectLst/>
                <a:latin typeface="Calisto MT" panose="02040603050505030304" pitchFamily="18" charset="0"/>
              </a:rPr>
              <a:t>i.e</a:t>
            </a:r>
            <a:r>
              <a:rPr lang="en-US" sz="1400" b="0" i="0" dirty="0">
                <a:solidFill>
                  <a:schemeClr val="tx1"/>
                </a:solidFill>
                <a:effectLst/>
                <a:latin typeface="Calisto MT" panose="02040603050505030304" pitchFamily="18" charset="0"/>
              </a:rPr>
              <a:t> bowling contribution) and for the rest of the teams, that is </a:t>
            </a:r>
            <a:r>
              <a:rPr lang="en-US" sz="1400" dirty="0">
                <a:solidFill>
                  <a:schemeClr val="tx1"/>
                </a:solidFill>
                <a:latin typeface="Calisto MT" panose="02040603050505030304" pitchFamily="18" charset="0"/>
              </a:rPr>
              <a:t>“</a:t>
            </a:r>
            <a:r>
              <a:rPr lang="en-US" sz="1400" b="0" i="0" dirty="0">
                <a:solidFill>
                  <a:schemeClr val="tx1"/>
                </a:solidFill>
                <a:effectLst/>
                <a:latin typeface="Calisto MT" panose="02040603050505030304" pitchFamily="18" charset="0"/>
              </a:rPr>
              <a:t>NED”, </a:t>
            </a:r>
            <a:r>
              <a:rPr lang="en-US" sz="1400" dirty="0">
                <a:solidFill>
                  <a:schemeClr val="tx1"/>
                </a:solidFill>
                <a:latin typeface="Calisto MT" panose="02040603050505030304" pitchFamily="18" charset="0"/>
              </a:rPr>
              <a:t>“</a:t>
            </a:r>
            <a:r>
              <a:rPr lang="en-US" sz="1400" b="0" i="0" dirty="0">
                <a:solidFill>
                  <a:schemeClr val="tx1"/>
                </a:solidFill>
                <a:effectLst/>
                <a:latin typeface="Calisto MT" panose="02040603050505030304" pitchFamily="18" charset="0"/>
              </a:rPr>
              <a:t>AUS”, </a:t>
            </a:r>
            <a:r>
              <a:rPr lang="en-US" sz="1400" dirty="0">
                <a:solidFill>
                  <a:schemeClr val="tx1"/>
                </a:solidFill>
                <a:latin typeface="Calisto MT" panose="02040603050505030304" pitchFamily="18" charset="0"/>
              </a:rPr>
              <a:t>“</a:t>
            </a:r>
            <a:r>
              <a:rPr lang="en-US" sz="1400" b="0" i="0" dirty="0">
                <a:solidFill>
                  <a:schemeClr val="tx1"/>
                </a:solidFill>
                <a:effectLst/>
                <a:latin typeface="Calisto MT" panose="02040603050505030304" pitchFamily="18" charset="0"/>
              </a:rPr>
              <a:t>SL</a:t>
            </a:r>
            <a:r>
              <a:rPr lang="en-US" sz="1400" dirty="0">
                <a:solidFill>
                  <a:schemeClr val="tx1"/>
                </a:solidFill>
                <a:latin typeface="Calisto MT" panose="02040603050505030304" pitchFamily="18" charset="0"/>
              </a:rPr>
              <a:t>”</a:t>
            </a:r>
            <a:r>
              <a:rPr lang="en-US" sz="1400" b="0" i="0" dirty="0">
                <a:solidFill>
                  <a:schemeClr val="tx1"/>
                </a:solidFill>
                <a:effectLst/>
                <a:latin typeface="Calisto MT" panose="02040603050505030304" pitchFamily="18" charset="0"/>
              </a:rPr>
              <a:t>, and “PAK</a:t>
            </a:r>
            <a:r>
              <a:rPr lang="en-US" sz="1400" dirty="0">
                <a:solidFill>
                  <a:schemeClr val="tx1"/>
                </a:solidFill>
                <a:latin typeface="Calisto MT" panose="02040603050505030304" pitchFamily="18" charset="0"/>
              </a:rPr>
              <a:t>”</a:t>
            </a:r>
            <a:r>
              <a:rPr lang="en-US" sz="1400" b="0" i="0" dirty="0">
                <a:solidFill>
                  <a:schemeClr val="tx1"/>
                </a:solidFill>
                <a:effectLst/>
                <a:latin typeface="Calisto MT" panose="02040603050505030304" pitchFamily="18" charset="0"/>
              </a:rPr>
              <a:t> have just a single player with a contribution value of more than 25%of the wickets taken.</a:t>
            </a:r>
          </a:p>
          <a:p>
            <a:pPr marL="342900" indent="-342900">
              <a:buFont typeface="Wingdings 2" pitchFamily="18" charset="2"/>
              <a:buAutoNum type="arabicParenR"/>
            </a:pPr>
            <a:r>
              <a:rPr lang="en-US" sz="1400" i="0" dirty="0">
                <a:solidFill>
                  <a:schemeClr val="tx1"/>
                </a:solidFill>
                <a:effectLst/>
                <a:latin typeface="Calisto MT" panose="02040603050505030304" pitchFamily="18" charset="0"/>
              </a:rPr>
              <a:t>The team "SL" has a player (D. </a:t>
            </a:r>
            <a:r>
              <a:rPr lang="en-US" sz="1400" i="0" dirty="0" err="1">
                <a:solidFill>
                  <a:schemeClr val="tx1"/>
                </a:solidFill>
                <a:effectLst/>
                <a:latin typeface="Calisto MT" panose="02040603050505030304" pitchFamily="18" charset="0"/>
              </a:rPr>
              <a:t>Madushanka</a:t>
            </a:r>
            <a:r>
              <a:rPr lang="en-US" sz="1400" i="0" dirty="0">
                <a:solidFill>
                  <a:schemeClr val="tx1"/>
                </a:solidFill>
                <a:effectLst/>
                <a:latin typeface="Calisto MT" panose="02040603050505030304" pitchFamily="18" charset="0"/>
              </a:rPr>
              <a:t>) with the greatest bowling contribution of around 42% compared with any other player that participated during the tournament. This means that this player has a huge impact on the team's performance (</a:t>
            </a:r>
            <a:r>
              <a:rPr lang="en-US" sz="1400" i="0" dirty="0" err="1">
                <a:solidFill>
                  <a:schemeClr val="tx1"/>
                </a:solidFill>
                <a:effectLst/>
                <a:latin typeface="Calisto MT" panose="02040603050505030304" pitchFamily="18" charset="0"/>
              </a:rPr>
              <a:t>i.e</a:t>
            </a:r>
            <a:r>
              <a:rPr lang="en-US" sz="1400" i="0" dirty="0">
                <a:solidFill>
                  <a:schemeClr val="tx1"/>
                </a:solidFill>
                <a:effectLst/>
                <a:latin typeface="Calisto MT" panose="02040603050505030304" pitchFamily="18" charset="0"/>
              </a:rPr>
              <a:t> total wickets taken).</a:t>
            </a:r>
          </a:p>
          <a:p>
            <a:pPr marL="342900" indent="-342900">
              <a:buFont typeface="Wingdings 2" pitchFamily="18" charset="2"/>
              <a:buAutoNum type="arabicParenR"/>
            </a:pPr>
            <a:endParaRPr lang="en-US" sz="1400" b="0" i="0" dirty="0">
              <a:solidFill>
                <a:schemeClr val="tx1"/>
              </a:solidFill>
              <a:effectLst/>
              <a:latin typeface="Calisto MT" panose="02040603050505030304" pitchFamily="18" charset="0"/>
            </a:endParaRPr>
          </a:p>
          <a:p>
            <a:pPr marL="342900" indent="-342900" algn="just">
              <a:buFont typeface="Wingdings 2" pitchFamily="18" charset="2"/>
              <a:buAutoNum type="arabicParenR"/>
            </a:pPr>
            <a:endParaRPr lang="en-US" sz="1400" b="0" i="0" dirty="0">
              <a:solidFill>
                <a:schemeClr val="tx1"/>
              </a:solidFill>
              <a:effectLst/>
              <a:latin typeface="Calisto MT" panose="02040603050505030304" pitchFamily="18" charset="0"/>
            </a:endParaRPr>
          </a:p>
          <a:p>
            <a:pPr marL="342900" indent="-342900" algn="just">
              <a:buFont typeface="Wingdings 2" pitchFamily="18" charset="2"/>
              <a:buAutoNum type="arabicParenR"/>
            </a:pPr>
            <a:endParaRPr lang="en-US" sz="1400" i="0" dirty="0">
              <a:solidFill>
                <a:schemeClr val="tx1"/>
              </a:solidFill>
              <a:effectLst/>
              <a:latin typeface="Calisto MT" panose="02040603050505030304" pitchFamily="18" charset="0"/>
            </a:endParaRPr>
          </a:p>
          <a:p>
            <a:pPr marL="342900" indent="-342900" algn="just">
              <a:buAutoNum type="arabicParenR"/>
            </a:pPr>
            <a:endParaRPr lang="en-US" sz="1400" b="0" i="0" dirty="0">
              <a:solidFill>
                <a:schemeClr val="tx1"/>
              </a:solidFill>
              <a:effectLst/>
              <a:latin typeface="Calisto MT" panose="02040603050505030304" pitchFamily="18" charset="0"/>
            </a:endParaRPr>
          </a:p>
          <a:p>
            <a:pPr marL="342900" indent="-342900" algn="just">
              <a:buAutoNum type="arabicParenR"/>
            </a:pPr>
            <a:endParaRPr lang="en-US" sz="1400" dirty="0">
              <a:solidFill>
                <a:schemeClr val="tx1"/>
              </a:solidFill>
              <a:latin typeface="Calisto MT" panose="02040603050505030304" pitchFamily="18" charset="0"/>
            </a:endParaRPr>
          </a:p>
        </p:txBody>
      </p:sp>
    </p:spTree>
    <p:extLst>
      <p:ext uri="{BB962C8B-B14F-4D97-AF65-F5344CB8AC3E}">
        <p14:creationId xmlns:p14="http://schemas.microsoft.com/office/powerpoint/2010/main" val="42870681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C236216-0CC0-421D-8BB3-87F17EE1650F}"/>
              </a:ext>
            </a:extLst>
          </p:cNvPr>
          <p:cNvSpPr txBox="1"/>
          <p:nvPr/>
        </p:nvSpPr>
        <p:spPr>
          <a:xfrm>
            <a:off x="0" y="89647"/>
            <a:ext cx="3881718" cy="400110"/>
          </a:xfrm>
          <a:prstGeom prst="rect">
            <a:avLst/>
          </a:prstGeom>
          <a:noFill/>
        </p:spPr>
        <p:txBody>
          <a:bodyPr wrap="square" rtlCol="0">
            <a:spAutoFit/>
          </a:bodyPr>
          <a:lstStyle/>
          <a:p>
            <a:r>
              <a:rPr lang="en-US" sz="2000" b="1" dirty="0">
                <a:latin typeface="Calisto MT" panose="02040603050505030304" pitchFamily="18" charset="0"/>
              </a:rPr>
              <a:t>Opposition and Ground Analysis</a:t>
            </a:r>
            <a:endParaRPr lang="en-CM" sz="2000" b="1" dirty="0">
              <a:latin typeface="Calisto MT" panose="02040603050505030304" pitchFamily="18" charset="0"/>
            </a:endParaRPr>
          </a:p>
        </p:txBody>
      </p:sp>
      <p:pic>
        <p:nvPicPr>
          <p:cNvPr id="5" name="Picture 4">
            <a:extLst>
              <a:ext uri="{FF2B5EF4-FFF2-40B4-BE49-F238E27FC236}">
                <a16:creationId xmlns:a16="http://schemas.microsoft.com/office/drawing/2014/main" id="{08C13522-00B8-4757-B23F-FAF73857D1C2}"/>
              </a:ext>
            </a:extLst>
          </p:cNvPr>
          <p:cNvPicPr>
            <a:picLocks noChangeAspect="1"/>
          </p:cNvPicPr>
          <p:nvPr/>
        </p:nvPicPr>
        <p:blipFill>
          <a:blip r:embed="rId2"/>
          <a:stretch>
            <a:fillRect/>
          </a:stretch>
        </p:blipFill>
        <p:spPr>
          <a:xfrm>
            <a:off x="-80684" y="513198"/>
            <a:ext cx="6201584" cy="2830638"/>
          </a:xfrm>
          <a:prstGeom prst="rect">
            <a:avLst/>
          </a:prstGeom>
        </p:spPr>
      </p:pic>
      <p:pic>
        <p:nvPicPr>
          <p:cNvPr id="7" name="Picture 6">
            <a:extLst>
              <a:ext uri="{FF2B5EF4-FFF2-40B4-BE49-F238E27FC236}">
                <a16:creationId xmlns:a16="http://schemas.microsoft.com/office/drawing/2014/main" id="{95412445-8FB4-48F7-93F1-74A41D9257CC}"/>
              </a:ext>
            </a:extLst>
          </p:cNvPr>
          <p:cNvPicPr>
            <a:picLocks noChangeAspect="1"/>
          </p:cNvPicPr>
          <p:nvPr/>
        </p:nvPicPr>
        <p:blipFill>
          <a:blip r:embed="rId3"/>
          <a:stretch>
            <a:fillRect/>
          </a:stretch>
        </p:blipFill>
        <p:spPr>
          <a:xfrm>
            <a:off x="6201585" y="513198"/>
            <a:ext cx="6085043" cy="2804493"/>
          </a:xfrm>
          <a:prstGeom prst="rect">
            <a:avLst/>
          </a:prstGeom>
        </p:spPr>
      </p:pic>
      <p:pic>
        <p:nvPicPr>
          <p:cNvPr id="9" name="Picture 8">
            <a:extLst>
              <a:ext uri="{FF2B5EF4-FFF2-40B4-BE49-F238E27FC236}">
                <a16:creationId xmlns:a16="http://schemas.microsoft.com/office/drawing/2014/main" id="{97BA5D1F-A842-47EC-B1C0-BD860D6490F6}"/>
              </a:ext>
            </a:extLst>
          </p:cNvPr>
          <p:cNvPicPr>
            <a:picLocks noChangeAspect="1"/>
          </p:cNvPicPr>
          <p:nvPr/>
        </p:nvPicPr>
        <p:blipFill>
          <a:blip r:embed="rId4"/>
          <a:stretch>
            <a:fillRect/>
          </a:stretch>
        </p:blipFill>
        <p:spPr>
          <a:xfrm>
            <a:off x="2846300" y="3375216"/>
            <a:ext cx="6414246" cy="3493297"/>
          </a:xfrm>
          <a:prstGeom prst="rect">
            <a:avLst/>
          </a:prstGeom>
        </p:spPr>
      </p:pic>
    </p:spTree>
    <p:extLst>
      <p:ext uri="{BB962C8B-B14F-4D97-AF65-F5344CB8AC3E}">
        <p14:creationId xmlns:p14="http://schemas.microsoft.com/office/powerpoint/2010/main" val="16369476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75069C-C509-43E4-A450-AB0293EC327A}"/>
              </a:ext>
            </a:extLst>
          </p:cNvPr>
          <p:cNvSpPr>
            <a:spLocks noGrp="1"/>
          </p:cNvSpPr>
          <p:nvPr>
            <p:ph idx="1"/>
          </p:nvPr>
        </p:nvSpPr>
        <p:spPr/>
        <p:txBody>
          <a:bodyPr/>
          <a:lstStyle/>
          <a:p>
            <a:pPr marL="0" indent="0" algn="ctr">
              <a:buNone/>
            </a:pPr>
            <a:r>
              <a:rPr lang="en-US" b="1" dirty="0">
                <a:solidFill>
                  <a:schemeClr val="tx1"/>
                </a:solidFill>
                <a:latin typeface="Calisto MT" panose="02040603050505030304" pitchFamily="18" charset="0"/>
              </a:rPr>
              <a:t>Findings</a:t>
            </a:r>
          </a:p>
          <a:p>
            <a:pPr marL="342900" indent="-342900">
              <a:buAutoNum type="arabicParenR"/>
            </a:pPr>
            <a:r>
              <a:rPr lang="en-US" sz="1400" dirty="0">
                <a:solidFill>
                  <a:schemeClr val="tx1"/>
                </a:solidFill>
                <a:latin typeface="Calisto MT" panose="02040603050505030304" pitchFamily="18" charset="0"/>
              </a:rPr>
              <a:t>The teams “</a:t>
            </a:r>
            <a:r>
              <a:rPr lang="en-US" sz="1400" i="0" dirty="0">
                <a:solidFill>
                  <a:schemeClr val="tx1"/>
                </a:solidFill>
                <a:effectLst/>
                <a:latin typeface="Calisto MT" panose="02040603050505030304" pitchFamily="18" charset="0"/>
              </a:rPr>
              <a:t>AFG</a:t>
            </a:r>
            <a:r>
              <a:rPr lang="en-US" sz="1400" dirty="0">
                <a:solidFill>
                  <a:schemeClr val="tx1"/>
                </a:solidFill>
                <a:latin typeface="Calisto MT" panose="02040603050505030304" pitchFamily="18" charset="0"/>
              </a:rPr>
              <a:t>”</a:t>
            </a:r>
            <a:r>
              <a:rPr lang="en-US" sz="1400" i="0" dirty="0">
                <a:solidFill>
                  <a:schemeClr val="tx1"/>
                </a:solidFill>
                <a:effectLst/>
                <a:latin typeface="Calisto MT" panose="02040603050505030304" pitchFamily="18" charset="0"/>
              </a:rPr>
              <a:t>, </a:t>
            </a:r>
            <a:r>
              <a:rPr lang="en-US" sz="1400" dirty="0">
                <a:solidFill>
                  <a:schemeClr val="tx1"/>
                </a:solidFill>
                <a:latin typeface="Calisto MT" panose="02040603050505030304" pitchFamily="18" charset="0"/>
              </a:rPr>
              <a:t>“</a:t>
            </a:r>
            <a:r>
              <a:rPr lang="en-US" sz="1400" i="0" dirty="0">
                <a:solidFill>
                  <a:schemeClr val="tx1"/>
                </a:solidFill>
                <a:effectLst/>
                <a:latin typeface="Calisto MT" panose="02040603050505030304" pitchFamily="18" charset="0"/>
              </a:rPr>
              <a:t>BAN</a:t>
            </a:r>
            <a:r>
              <a:rPr lang="en-US" sz="1400" dirty="0">
                <a:solidFill>
                  <a:schemeClr val="tx1"/>
                </a:solidFill>
                <a:latin typeface="Calisto MT" panose="02040603050505030304" pitchFamily="18" charset="0"/>
              </a:rPr>
              <a:t>”</a:t>
            </a:r>
            <a:r>
              <a:rPr lang="en-US" sz="1400" i="0" dirty="0">
                <a:solidFill>
                  <a:schemeClr val="tx1"/>
                </a:solidFill>
                <a:effectLst/>
                <a:latin typeface="Calisto MT" panose="02040603050505030304" pitchFamily="18" charset="0"/>
              </a:rPr>
              <a:t> and “ENG</a:t>
            </a:r>
            <a:r>
              <a:rPr lang="en-US" sz="1400" dirty="0">
                <a:solidFill>
                  <a:schemeClr val="tx1"/>
                </a:solidFill>
                <a:latin typeface="Calisto MT" panose="02040603050505030304" pitchFamily="18" charset="0"/>
              </a:rPr>
              <a:t>”</a:t>
            </a:r>
            <a:r>
              <a:rPr lang="en-US" sz="1400" i="0" dirty="0">
                <a:solidFill>
                  <a:schemeClr val="tx1"/>
                </a:solidFill>
                <a:effectLst/>
                <a:latin typeface="Calisto MT" panose="02040603050505030304" pitchFamily="18" charset="0"/>
              </a:rPr>
              <a:t> scored a maximum number of runs less than 600 against each opposition team in the entire tournament.</a:t>
            </a:r>
          </a:p>
          <a:p>
            <a:pPr marL="342900" indent="-342900">
              <a:buFont typeface="Wingdings 2" pitchFamily="18" charset="2"/>
              <a:buAutoNum type="arabicParenR"/>
            </a:pPr>
            <a:r>
              <a:rPr lang="en-US" sz="1400" dirty="0">
                <a:solidFill>
                  <a:schemeClr val="tx1"/>
                </a:solidFill>
                <a:latin typeface="Calisto MT" panose="02040603050505030304" pitchFamily="18" charset="0"/>
              </a:rPr>
              <a:t>The teams “</a:t>
            </a:r>
            <a:r>
              <a:rPr lang="en-US" sz="1400" b="0" i="0" dirty="0">
                <a:solidFill>
                  <a:schemeClr val="tx1"/>
                </a:solidFill>
                <a:effectLst/>
                <a:latin typeface="Calisto MT" panose="02040603050505030304" pitchFamily="18" charset="0"/>
              </a:rPr>
              <a:t>IND</a:t>
            </a:r>
            <a:r>
              <a:rPr lang="en-US" sz="1400" dirty="0">
                <a:solidFill>
                  <a:schemeClr val="tx1"/>
                </a:solidFill>
                <a:latin typeface="Calisto MT" panose="02040603050505030304" pitchFamily="18" charset="0"/>
              </a:rPr>
              <a:t>”</a:t>
            </a:r>
            <a:r>
              <a:rPr lang="en-US" sz="1400" b="0" i="0" dirty="0">
                <a:solidFill>
                  <a:schemeClr val="tx1"/>
                </a:solidFill>
                <a:effectLst/>
                <a:latin typeface="Calisto MT" panose="02040603050505030304" pitchFamily="18" charset="0"/>
              </a:rPr>
              <a:t> and “NZ</a:t>
            </a:r>
            <a:r>
              <a:rPr lang="en-US" sz="1400" dirty="0">
                <a:solidFill>
                  <a:schemeClr val="tx1"/>
                </a:solidFill>
                <a:latin typeface="Calisto MT" panose="02040603050505030304" pitchFamily="18" charset="0"/>
              </a:rPr>
              <a:t>”</a:t>
            </a:r>
            <a:r>
              <a:rPr lang="en-US" sz="1400" b="0" i="0" dirty="0">
                <a:solidFill>
                  <a:schemeClr val="tx1"/>
                </a:solidFill>
                <a:effectLst/>
                <a:latin typeface="Calisto MT" panose="02040603050505030304" pitchFamily="18" charset="0"/>
              </a:rPr>
              <a:t> team scored a maximum number of runs far greater than 1000 when played against each other.</a:t>
            </a:r>
          </a:p>
          <a:p>
            <a:pPr marL="342900" indent="-342900">
              <a:buFont typeface="Wingdings 2" pitchFamily="18" charset="2"/>
              <a:buAutoNum type="arabicParenR"/>
            </a:pPr>
            <a:r>
              <a:rPr lang="en-US" sz="1400" b="0" i="0" dirty="0">
                <a:solidFill>
                  <a:schemeClr val="tx1"/>
                </a:solidFill>
                <a:effectLst/>
                <a:latin typeface="Calisto MT" panose="02040603050505030304" pitchFamily="18" charset="0"/>
              </a:rPr>
              <a:t>Among all the teams, the teams “AUS</a:t>
            </a:r>
            <a:r>
              <a:rPr lang="en-US" sz="1400" dirty="0">
                <a:solidFill>
                  <a:schemeClr val="tx1"/>
                </a:solidFill>
                <a:latin typeface="Calisto MT" panose="02040603050505030304" pitchFamily="18" charset="0"/>
              </a:rPr>
              <a:t>”</a:t>
            </a:r>
            <a:r>
              <a:rPr lang="en-US" sz="1400" b="0" i="0" dirty="0">
                <a:solidFill>
                  <a:schemeClr val="tx1"/>
                </a:solidFill>
                <a:effectLst/>
                <a:latin typeface="Calisto MT" panose="02040603050505030304" pitchFamily="18" charset="0"/>
              </a:rPr>
              <a:t>, </a:t>
            </a:r>
            <a:r>
              <a:rPr lang="en-US" sz="1400" dirty="0">
                <a:solidFill>
                  <a:schemeClr val="tx1"/>
                </a:solidFill>
                <a:latin typeface="Calisto MT" panose="02040603050505030304" pitchFamily="18" charset="0"/>
              </a:rPr>
              <a:t>“</a:t>
            </a:r>
            <a:r>
              <a:rPr lang="en-US" sz="1400" b="0" i="0" dirty="0">
                <a:solidFill>
                  <a:schemeClr val="tx1"/>
                </a:solidFill>
                <a:effectLst/>
                <a:latin typeface="Calisto MT" panose="02040603050505030304" pitchFamily="18" charset="0"/>
              </a:rPr>
              <a:t>IND</a:t>
            </a:r>
            <a:r>
              <a:rPr lang="en-US" sz="1400" dirty="0">
                <a:solidFill>
                  <a:schemeClr val="tx1"/>
                </a:solidFill>
                <a:latin typeface="Calisto MT" panose="02040603050505030304" pitchFamily="18" charset="0"/>
              </a:rPr>
              <a:t>”</a:t>
            </a:r>
            <a:r>
              <a:rPr lang="en-US" sz="1400" b="0" i="0" dirty="0">
                <a:solidFill>
                  <a:schemeClr val="tx1"/>
                </a:solidFill>
                <a:effectLst/>
                <a:latin typeface="Calisto MT" panose="02040603050505030304" pitchFamily="18" charset="0"/>
              </a:rPr>
              <a:t> and “SA</a:t>
            </a:r>
            <a:r>
              <a:rPr lang="en-US" sz="1400" dirty="0">
                <a:solidFill>
                  <a:schemeClr val="tx1"/>
                </a:solidFill>
                <a:latin typeface="Calisto MT" panose="02040603050505030304" pitchFamily="18" charset="0"/>
              </a:rPr>
              <a:t>”</a:t>
            </a:r>
            <a:r>
              <a:rPr lang="en-US" sz="1400" b="0" i="0" dirty="0">
                <a:solidFill>
                  <a:schemeClr val="tx1"/>
                </a:solidFill>
                <a:effectLst/>
                <a:latin typeface="Calisto MT" panose="02040603050505030304" pitchFamily="18" charset="0"/>
              </a:rPr>
              <a:t> have a maximum wicket value far greater than 10 when played against each opposition team compared to the maximum wicket value of the rest of the teams (which is equal to 10).</a:t>
            </a:r>
          </a:p>
          <a:p>
            <a:pPr marL="342900" indent="-342900">
              <a:buFont typeface="Wingdings 2" pitchFamily="18" charset="2"/>
              <a:buAutoNum type="arabicParenR"/>
            </a:pPr>
            <a:r>
              <a:rPr lang="en-US" sz="1400" dirty="0">
                <a:solidFill>
                  <a:schemeClr val="tx1"/>
                </a:solidFill>
                <a:latin typeface="Calisto MT" panose="02040603050505030304" pitchFamily="18" charset="0"/>
              </a:rPr>
              <a:t>The teams “NZ” and “SL” scored more runs in “Delhi” and “Dharamsala” playing ground respectively compared to the other playing grounds.</a:t>
            </a:r>
            <a:endParaRPr lang="en-US" sz="1400" b="0" i="0" dirty="0">
              <a:solidFill>
                <a:schemeClr val="tx1"/>
              </a:solidFill>
              <a:effectLst/>
              <a:latin typeface="Calisto MT" panose="02040603050505030304" pitchFamily="18" charset="0"/>
            </a:endParaRPr>
          </a:p>
          <a:p>
            <a:pPr marL="342900" indent="-342900">
              <a:buFont typeface="Wingdings 2" pitchFamily="18" charset="2"/>
              <a:buAutoNum type="arabicParenR"/>
            </a:pPr>
            <a:endParaRPr lang="en-US" sz="1400" b="0" i="0" dirty="0">
              <a:solidFill>
                <a:schemeClr val="tx1"/>
              </a:solidFill>
              <a:effectLst/>
              <a:latin typeface="Calisto MT" panose="02040603050505030304" pitchFamily="18" charset="0"/>
            </a:endParaRPr>
          </a:p>
          <a:p>
            <a:pPr marL="342900" indent="-342900">
              <a:buAutoNum type="arabicParenR"/>
            </a:pPr>
            <a:endParaRPr lang="en-US" sz="1400" i="0" dirty="0">
              <a:solidFill>
                <a:schemeClr val="tx1"/>
              </a:solidFill>
              <a:effectLst/>
              <a:latin typeface="Calisto MT" panose="02040603050505030304" pitchFamily="18" charset="0"/>
            </a:endParaRPr>
          </a:p>
          <a:p>
            <a:pPr marL="0" indent="0" algn="ctr">
              <a:buNone/>
            </a:pPr>
            <a:endParaRPr lang="en-CM" sz="1400" dirty="0">
              <a:solidFill>
                <a:schemeClr val="tx1"/>
              </a:solidFill>
              <a:latin typeface="Calisto MT" panose="02040603050505030304" pitchFamily="18" charset="0"/>
            </a:endParaRPr>
          </a:p>
        </p:txBody>
      </p:sp>
    </p:spTree>
    <p:extLst>
      <p:ext uri="{BB962C8B-B14F-4D97-AF65-F5344CB8AC3E}">
        <p14:creationId xmlns:p14="http://schemas.microsoft.com/office/powerpoint/2010/main" val="21219932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CF644E5-E785-479D-9852-FAF2558FDCE6}"/>
              </a:ext>
            </a:extLst>
          </p:cNvPr>
          <p:cNvSpPr txBox="1"/>
          <p:nvPr/>
        </p:nvSpPr>
        <p:spPr>
          <a:xfrm>
            <a:off x="-3" y="71715"/>
            <a:ext cx="2294965" cy="400110"/>
          </a:xfrm>
          <a:prstGeom prst="rect">
            <a:avLst/>
          </a:prstGeom>
          <a:noFill/>
        </p:spPr>
        <p:txBody>
          <a:bodyPr wrap="square" rtlCol="0">
            <a:spAutoFit/>
          </a:bodyPr>
          <a:lstStyle/>
          <a:p>
            <a:r>
              <a:rPr lang="en-US" sz="2000" b="1" dirty="0">
                <a:latin typeface="Calisto MT" panose="02040603050505030304" pitchFamily="18" charset="0"/>
              </a:rPr>
              <a:t>Temporal Analysis</a:t>
            </a:r>
            <a:endParaRPr lang="en-CM" sz="2000" b="1" dirty="0">
              <a:latin typeface="Calisto MT" panose="02040603050505030304" pitchFamily="18" charset="0"/>
            </a:endParaRPr>
          </a:p>
        </p:txBody>
      </p:sp>
      <p:pic>
        <p:nvPicPr>
          <p:cNvPr id="4" name="Picture 3">
            <a:extLst>
              <a:ext uri="{FF2B5EF4-FFF2-40B4-BE49-F238E27FC236}">
                <a16:creationId xmlns:a16="http://schemas.microsoft.com/office/drawing/2014/main" id="{2723DE4D-0A01-46CA-B85B-DD9DA32F33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4118" y="1014438"/>
            <a:ext cx="5599879" cy="2212856"/>
          </a:xfrm>
          <a:prstGeom prst="rect">
            <a:avLst/>
          </a:prstGeom>
        </p:spPr>
      </p:pic>
      <p:pic>
        <p:nvPicPr>
          <p:cNvPr id="6" name="Picture 5">
            <a:extLst>
              <a:ext uri="{FF2B5EF4-FFF2-40B4-BE49-F238E27FC236}">
                <a16:creationId xmlns:a16="http://schemas.microsoft.com/office/drawing/2014/main" id="{DBAE9CBE-CF97-4337-B344-733A923E6E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6190" y="3256946"/>
            <a:ext cx="5599878" cy="2200947"/>
          </a:xfrm>
          <a:prstGeom prst="rect">
            <a:avLst/>
          </a:prstGeom>
        </p:spPr>
      </p:pic>
      <p:pic>
        <p:nvPicPr>
          <p:cNvPr id="8" name="Picture 7">
            <a:extLst>
              <a:ext uri="{FF2B5EF4-FFF2-40B4-BE49-F238E27FC236}">
                <a16:creationId xmlns:a16="http://schemas.microsoft.com/office/drawing/2014/main" id="{1D7C4E68-8FA9-41F4-B17D-0919FA5E818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6189" y="5468729"/>
            <a:ext cx="5617807" cy="1170232"/>
          </a:xfrm>
          <a:prstGeom prst="rect">
            <a:avLst/>
          </a:prstGeom>
        </p:spPr>
      </p:pic>
      <p:pic>
        <p:nvPicPr>
          <p:cNvPr id="10" name="Picture 9">
            <a:extLst>
              <a:ext uri="{FF2B5EF4-FFF2-40B4-BE49-F238E27FC236}">
                <a16:creationId xmlns:a16="http://schemas.microsoft.com/office/drawing/2014/main" id="{8ECACA70-8FF4-4B0B-B8AC-BEEEB61070D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23181" y="1012580"/>
            <a:ext cx="5599877" cy="2219017"/>
          </a:xfrm>
          <a:prstGeom prst="rect">
            <a:avLst/>
          </a:prstGeom>
        </p:spPr>
      </p:pic>
      <p:pic>
        <p:nvPicPr>
          <p:cNvPr id="12" name="Picture 11">
            <a:extLst>
              <a:ext uri="{FF2B5EF4-FFF2-40B4-BE49-F238E27FC236}">
                <a16:creationId xmlns:a16="http://schemas.microsoft.com/office/drawing/2014/main" id="{D11EB1E5-2725-4F9A-8BD5-BFCA4140B1C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49961" y="3227294"/>
            <a:ext cx="5576043" cy="2215808"/>
          </a:xfrm>
          <a:prstGeom prst="rect">
            <a:avLst/>
          </a:prstGeom>
        </p:spPr>
      </p:pic>
      <p:pic>
        <p:nvPicPr>
          <p:cNvPr id="14" name="Picture 13">
            <a:extLst>
              <a:ext uri="{FF2B5EF4-FFF2-40B4-BE49-F238E27FC236}">
                <a16:creationId xmlns:a16="http://schemas.microsoft.com/office/drawing/2014/main" id="{2C58EAD4-AC86-4152-97F0-20713EE8391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332146" y="5482661"/>
            <a:ext cx="5617807" cy="1156300"/>
          </a:xfrm>
          <a:prstGeom prst="rect">
            <a:avLst/>
          </a:prstGeom>
        </p:spPr>
      </p:pic>
      <p:sp>
        <p:nvSpPr>
          <p:cNvPr id="15" name="TextBox 14">
            <a:extLst>
              <a:ext uri="{FF2B5EF4-FFF2-40B4-BE49-F238E27FC236}">
                <a16:creationId xmlns:a16="http://schemas.microsoft.com/office/drawing/2014/main" id="{4575F28D-C65E-48EF-A9A8-7C4DD5F546F5}"/>
              </a:ext>
            </a:extLst>
          </p:cNvPr>
          <p:cNvSpPr txBox="1"/>
          <p:nvPr/>
        </p:nvSpPr>
        <p:spPr>
          <a:xfrm>
            <a:off x="2052920" y="672352"/>
            <a:ext cx="2088777" cy="307777"/>
          </a:xfrm>
          <a:prstGeom prst="rect">
            <a:avLst/>
          </a:prstGeom>
          <a:noFill/>
        </p:spPr>
        <p:txBody>
          <a:bodyPr wrap="square" rtlCol="0">
            <a:spAutoFit/>
          </a:bodyPr>
          <a:lstStyle/>
          <a:p>
            <a:r>
              <a:rPr lang="en-US" sz="1400" dirty="0">
                <a:latin typeface="Calisto MT" panose="02040603050505030304" pitchFamily="18" charset="0"/>
              </a:rPr>
              <a:t>Team’s Run Performance</a:t>
            </a:r>
            <a:endParaRPr lang="en-CM" sz="1400" dirty="0">
              <a:latin typeface="Calisto MT" panose="02040603050505030304" pitchFamily="18" charset="0"/>
            </a:endParaRPr>
          </a:p>
        </p:txBody>
      </p:sp>
      <p:sp>
        <p:nvSpPr>
          <p:cNvPr id="16" name="TextBox 15">
            <a:extLst>
              <a:ext uri="{FF2B5EF4-FFF2-40B4-BE49-F238E27FC236}">
                <a16:creationId xmlns:a16="http://schemas.microsoft.com/office/drawing/2014/main" id="{82FD04F3-B4D3-4C83-81E3-5AE01AF21C85}"/>
              </a:ext>
            </a:extLst>
          </p:cNvPr>
          <p:cNvSpPr txBox="1"/>
          <p:nvPr/>
        </p:nvSpPr>
        <p:spPr>
          <a:xfrm>
            <a:off x="8229596" y="706661"/>
            <a:ext cx="2160495" cy="307777"/>
          </a:xfrm>
          <a:prstGeom prst="rect">
            <a:avLst/>
          </a:prstGeom>
          <a:noFill/>
        </p:spPr>
        <p:txBody>
          <a:bodyPr wrap="square" rtlCol="0">
            <a:spAutoFit/>
          </a:bodyPr>
          <a:lstStyle/>
          <a:p>
            <a:r>
              <a:rPr lang="en-US" sz="1400" dirty="0">
                <a:latin typeface="Calisto MT" panose="02040603050505030304" pitchFamily="18" charset="0"/>
              </a:rPr>
              <a:t>Team’s Over Performance</a:t>
            </a:r>
            <a:endParaRPr lang="en-CM" sz="1400" dirty="0">
              <a:latin typeface="Calisto MT" panose="02040603050505030304" pitchFamily="18" charset="0"/>
            </a:endParaRPr>
          </a:p>
        </p:txBody>
      </p:sp>
    </p:spTree>
    <p:extLst>
      <p:ext uri="{BB962C8B-B14F-4D97-AF65-F5344CB8AC3E}">
        <p14:creationId xmlns:p14="http://schemas.microsoft.com/office/powerpoint/2010/main" val="28717835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D73FE2-6297-4BBB-8ABC-519152B0C85E}"/>
              </a:ext>
            </a:extLst>
          </p:cNvPr>
          <p:cNvSpPr>
            <a:spLocks noGrp="1"/>
          </p:cNvSpPr>
          <p:nvPr>
            <p:ph idx="1"/>
          </p:nvPr>
        </p:nvSpPr>
        <p:spPr/>
        <p:txBody>
          <a:bodyPr/>
          <a:lstStyle/>
          <a:p>
            <a:pPr marL="0" indent="0" algn="ctr">
              <a:buNone/>
            </a:pPr>
            <a:r>
              <a:rPr lang="en-US" b="1" dirty="0">
                <a:solidFill>
                  <a:schemeClr val="tx1"/>
                </a:solidFill>
                <a:latin typeface="Calisto MT" panose="02040603050505030304" pitchFamily="18" charset="0"/>
              </a:rPr>
              <a:t>Findings</a:t>
            </a:r>
          </a:p>
          <a:p>
            <a:pPr marL="342900" indent="-342900">
              <a:buAutoNum type="arabicParenR"/>
            </a:pPr>
            <a:r>
              <a:rPr lang="en-US" sz="1400" dirty="0">
                <a:solidFill>
                  <a:schemeClr val="tx1"/>
                </a:solidFill>
                <a:latin typeface="Calisto MT" panose="02040603050505030304" pitchFamily="18" charset="0"/>
              </a:rPr>
              <a:t>In the month of October, around 07 teams scored more runs during that period and 03 teams scored the highest number of runs in the month of November.</a:t>
            </a:r>
          </a:p>
          <a:p>
            <a:pPr marL="342900" indent="-342900">
              <a:buAutoNum type="arabicParenR"/>
            </a:pPr>
            <a:r>
              <a:rPr lang="en-US" sz="1400" dirty="0">
                <a:solidFill>
                  <a:schemeClr val="tx1"/>
                </a:solidFill>
                <a:latin typeface="Calisto MT" panose="02040603050505030304" pitchFamily="18" charset="0"/>
              </a:rPr>
              <a:t>In the month of October, around 07 teams possessed more overs and 03 teams possessed more overs in the Month of November.</a:t>
            </a:r>
            <a:endParaRPr lang="en-CM" sz="1400" dirty="0">
              <a:solidFill>
                <a:schemeClr val="tx1"/>
              </a:solidFill>
              <a:latin typeface="Calisto MT" panose="02040603050505030304" pitchFamily="18" charset="0"/>
            </a:endParaRPr>
          </a:p>
        </p:txBody>
      </p:sp>
    </p:spTree>
    <p:extLst>
      <p:ext uri="{BB962C8B-B14F-4D97-AF65-F5344CB8AC3E}">
        <p14:creationId xmlns:p14="http://schemas.microsoft.com/office/powerpoint/2010/main" val="2123994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A0E5D-EC37-475C-929B-7DEA9C0F475E}"/>
              </a:ext>
            </a:extLst>
          </p:cNvPr>
          <p:cNvSpPr>
            <a:spLocks noGrp="1"/>
          </p:cNvSpPr>
          <p:nvPr>
            <p:ph type="title"/>
          </p:nvPr>
        </p:nvSpPr>
        <p:spPr>
          <a:xfrm>
            <a:off x="252918" y="1123837"/>
            <a:ext cx="3072987" cy="4601183"/>
          </a:xfrm>
        </p:spPr>
        <p:txBody>
          <a:bodyPr>
            <a:normAutofit/>
          </a:bodyPr>
          <a:lstStyle/>
          <a:p>
            <a:pPr algn="ctr"/>
            <a:r>
              <a:rPr lang="en-US" dirty="0">
                <a:latin typeface="Forte" panose="03060902040502070203" pitchFamily="66" charset="0"/>
              </a:rPr>
              <a:t>Conclusions</a:t>
            </a:r>
            <a:endParaRPr lang="en-CM" dirty="0">
              <a:latin typeface="Forte" panose="03060902040502070203" pitchFamily="66" charset="0"/>
            </a:endParaRPr>
          </a:p>
        </p:txBody>
      </p:sp>
      <p:sp>
        <p:nvSpPr>
          <p:cNvPr id="3" name="Content Placeholder 2">
            <a:extLst>
              <a:ext uri="{FF2B5EF4-FFF2-40B4-BE49-F238E27FC236}">
                <a16:creationId xmlns:a16="http://schemas.microsoft.com/office/drawing/2014/main" id="{2952A2C4-2389-4A1B-B4B7-171DD6FD56E9}"/>
              </a:ext>
            </a:extLst>
          </p:cNvPr>
          <p:cNvSpPr>
            <a:spLocks noGrp="1"/>
          </p:cNvSpPr>
          <p:nvPr>
            <p:ph idx="1"/>
          </p:nvPr>
        </p:nvSpPr>
        <p:spPr/>
        <p:txBody>
          <a:bodyPr>
            <a:normAutofit/>
          </a:bodyPr>
          <a:lstStyle/>
          <a:p>
            <a:pPr marL="0" indent="0" algn="ctr">
              <a:buNone/>
            </a:pPr>
            <a:r>
              <a:rPr lang="en-US" sz="1400" dirty="0">
                <a:solidFill>
                  <a:schemeClr val="tx1"/>
                </a:solidFill>
                <a:latin typeface="Calisto MT" panose="02040603050505030304" pitchFamily="18" charset="0"/>
              </a:rPr>
              <a:t>The analysis was undertaken to evaluate and optimize players and team performance during a tournament, focusing specifically on key metrics across different oppositions and play grounds. The key finding is that team Sri Lanka exhibits a high dependency on specific play grounds, resulting to a decrease in runs when playing outside Delhi. Conversely, team India demonstrates superior consistency over time, with a steady increasing run rate. </a:t>
            </a:r>
          </a:p>
          <a:p>
            <a:pPr marL="0" indent="0" algn="ctr">
              <a:buNone/>
            </a:pPr>
            <a:r>
              <a:rPr lang="en-US" sz="1400" dirty="0">
                <a:solidFill>
                  <a:schemeClr val="tx1"/>
                </a:solidFill>
                <a:latin typeface="Calisto MT" panose="02040603050505030304" pitchFamily="18" charset="0"/>
              </a:rPr>
              <a:t>We recommend the coaching staff investigate Player D's high single-innings score variability to determine if performance is linked to specific venues. Furthermore, prioritize match strategies that exploit the opposition's known weakness against high run-rates identified in the recent matches."</a:t>
            </a:r>
          </a:p>
        </p:txBody>
      </p:sp>
    </p:spTree>
    <p:extLst>
      <p:ext uri="{BB962C8B-B14F-4D97-AF65-F5344CB8AC3E}">
        <p14:creationId xmlns:p14="http://schemas.microsoft.com/office/powerpoint/2010/main" val="438842934"/>
      </p:ext>
    </p:extLst>
  </p:cSld>
  <p:clrMapOvr>
    <a:masterClrMapping/>
  </p:clrMapOvr>
</p:sld>
</file>

<file path=ppt/theme/theme1.xml><?xml version="1.0" encoding="utf-8"?>
<a:theme xmlns:a="http://schemas.openxmlformats.org/drawingml/2006/main" name="Frame">
  <a:themeElements>
    <a:clrScheme name="Violet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docProps/app.xml><?xml version="1.0" encoding="utf-8"?>
<Properties xmlns="http://schemas.openxmlformats.org/officeDocument/2006/extended-properties" xmlns:vt="http://schemas.openxmlformats.org/officeDocument/2006/docPropsVTypes">
  <Template>TM03457475[[fn=Frame]]</Template>
  <TotalTime>2411</TotalTime>
  <Words>1037</Words>
  <Application>Microsoft Office PowerPoint</Application>
  <PresentationFormat>Widescreen</PresentationFormat>
  <Paragraphs>61</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Calisto MT</vt:lpstr>
      <vt:lpstr>Corbel</vt:lpstr>
      <vt:lpstr>Forte</vt:lpstr>
      <vt:lpstr>Wingdings 2</vt:lpstr>
      <vt:lpstr>Frame</vt:lpstr>
      <vt:lpstr>WORLD CUP 2023 ANALYSIS </vt:lpstr>
      <vt:lpstr>Project Objectives</vt:lpstr>
      <vt:lpstr>Dataset Description</vt:lpstr>
      <vt:lpstr>Exploratory Data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WORLD CUP 2023 ANALYSIS </dc:title>
  <dc:creator>Asibecheh Precious Omechamba</dc:creator>
  <cp:lastModifiedBy>Asibecheh Precious Omechamba</cp:lastModifiedBy>
  <cp:revision>6</cp:revision>
  <dcterms:created xsi:type="dcterms:W3CDTF">2025-10-02T19:53:54Z</dcterms:created>
  <dcterms:modified xsi:type="dcterms:W3CDTF">2025-10-04T17:29:54Z</dcterms:modified>
</cp:coreProperties>
</file>